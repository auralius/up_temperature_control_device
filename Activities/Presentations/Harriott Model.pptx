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2B4F-8ED2-4B99-8135-EBA6CB08C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BD2CD-EB49-4273-9C6A-F41D05550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268BB-8BF2-45C3-BFA3-D50584B6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F5860-CBBB-4415-8790-92FC9542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DA3-8162-4F5E-88BD-9DF33EEC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8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34F1-047A-4DF0-9866-ADEC8F1F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D2C2-E930-4814-9C80-761CE8707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E3D61-E634-4B4F-BFE8-05B5087B4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4C36-ED93-4210-AC0D-B2771E86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9B541-0FC6-4A0E-8EBA-E0DFDFF42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0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EBE0-9760-409A-B012-A9EBFD02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0C4E5-EA19-411B-A2F6-0C1C90FB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4CEF-3374-431F-8CB4-B2202F9D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E38A6-A5C5-4A42-AC01-DBCC28F0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8F950-F4AD-4F81-9DDB-A43C7B4E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1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C9C2-00AA-4AB9-9A87-A63BFDC7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1A4B7-5BC8-4A57-AE92-93565807D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52185-BE17-4E72-A5F2-B8ECA8958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1EB08-8C1A-4D9E-9F1D-B56DB2BB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782A2-3D6A-4486-BD75-B56939412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C588A-A2B7-4274-8F80-50E5C627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7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5979-DDAB-4505-B445-D82A16E4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8C7A8-0C41-4C0D-910E-1C4E1B9D6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84606-C5A9-4E32-B380-41BEC6154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34764-FFB8-49AD-8E13-40E957C47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5C7A7-E72E-4F5D-9301-311FB8639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B67AE-D5D3-4F23-A623-B76F6629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B76D-1745-41A5-B6BE-AB8545204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F531B-7BEF-4A52-85A8-A0722672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A706-8C61-4860-A40C-BDBA0753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5C3A7C-A5C8-4143-81B2-69BC9E5F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84372-7872-491D-AE8C-10CCD852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3B322-7822-4D8C-8606-2B238C7D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E0EDC-A1E3-431D-970D-D61DD4C6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962DEE-AA4C-46FB-9A35-86C9B78A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C81BC-9E3C-4FB2-896A-E217C721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1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AA6A-F384-4F0D-B53C-EA1CBD82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25EC9-D182-415E-B7BA-50AFA772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0243A-5A46-40F3-B5A8-44EC463F8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BF6C7-9D41-4705-9838-F1C65132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65FCD-703E-491D-8C29-8DB3E658C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333FD-B83E-4825-A008-EA48732D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3748-A36D-4B85-8F65-B7271ADB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78E689-24D9-4D76-B818-9D70B2AF5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7F3CC-7181-46E4-BC6A-A832B69A1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62AC5-3EE0-42BF-ACA0-39354414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95799-43B1-4E29-9BDF-55720AD0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833E2-D7DF-4ADF-804E-5BADB537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1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85B2-5FD7-4808-904F-D76E073B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40DC9-4F78-44D2-B3DA-A4087B7D5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52050-A445-45DD-9C00-0754FCE8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DB597-C76E-4D6C-ABD5-A76E4BAC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45468-94FF-4035-B8B7-615001743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3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CFFBBC-A962-4BF9-A46A-F8B1B7558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2E43B-3F6A-43BE-956B-BC2ED2B73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9B32A-2517-46AE-B0A3-3133A14F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40670-5912-410D-B57B-DB1124CA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B5D2C-773B-4D4C-A113-E46BA8DE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3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D7E60-06EB-42B8-9CD7-130E72C3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56A5F-A0B6-476E-A309-972097A6F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6250C-522D-4FE8-9E38-5F7FE2434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FB0F-46B4-4EDE-9C13-CC38BBE5A9F8}" type="datetimeFigureOut">
              <a:rPr lang="en-US" smtClean="0"/>
              <a:t>8/2/2020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15D44-44E7-47F7-A976-D741FE7FE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60723-E86E-44E1-939A-148294CDB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D76ED-BC9F-4EB1-8C35-27B0F639C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1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sers.abo.fi/khaggblo/PDC/PDC5milver.pdf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077D-0C5E-44CF-B3A0-B066A409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82737"/>
          </a:xfrm>
        </p:spPr>
        <p:txBody>
          <a:bodyPr>
            <a:normAutofit/>
          </a:bodyPr>
          <a:lstStyle/>
          <a:p>
            <a:r>
              <a:rPr lang="en-US" sz="4800"/>
              <a:t>Harriott’s</a:t>
            </a:r>
            <a:r>
              <a:rPr lang="en-US" sz="4800" baseline="30000"/>
              <a:t>1</a:t>
            </a:r>
            <a:r>
              <a:rPr lang="en-US" sz="4800"/>
              <a:t> </a:t>
            </a:r>
            <a:r>
              <a:rPr lang="en-US" sz="4800" dirty="0"/>
              <a:t>Model for Overdamped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9F0F2-934D-43BA-B73A-5A9FD760C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5063"/>
            <a:ext cx="9144000" cy="1333500"/>
          </a:xfrm>
        </p:spPr>
        <p:txBody>
          <a:bodyPr/>
          <a:lstStyle/>
          <a:p>
            <a:r>
              <a:rPr lang="en-US" dirty="0"/>
              <a:t>ME</a:t>
            </a:r>
          </a:p>
          <a:p>
            <a:r>
              <a:rPr lang="en-US" dirty="0" err="1"/>
              <a:t>Universitas</a:t>
            </a:r>
            <a:r>
              <a:rPr lang="en-US" dirty="0"/>
              <a:t> </a:t>
            </a:r>
            <a:r>
              <a:rPr lang="en-US" dirty="0" err="1"/>
              <a:t>Pertamina</a:t>
            </a:r>
            <a:endParaRPr lang="en-US" dirty="0"/>
          </a:p>
          <a:p>
            <a:r>
              <a:rPr lang="en-US" dirty="0"/>
              <a:t>2020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40075-2334-4949-955E-BDBB000B21FE}"/>
              </a:ext>
            </a:extLst>
          </p:cNvPr>
          <p:cNvSpPr/>
          <p:nvPr/>
        </p:nvSpPr>
        <p:spPr>
          <a:xfrm>
            <a:off x="7383439" y="6550223"/>
            <a:ext cx="48085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0" i="0" baseline="30000" dirty="0">
                <a:solidFill>
                  <a:srgbClr val="1C1D1E"/>
                </a:solidFill>
                <a:effectLst/>
                <a:latin typeface="Open Sans"/>
              </a:rPr>
              <a:t>1</a:t>
            </a:r>
            <a:r>
              <a:rPr lang="en-US" sz="1400" b="0" i="0" dirty="0">
                <a:solidFill>
                  <a:srgbClr val="1C1D1E"/>
                </a:solidFill>
                <a:effectLst/>
                <a:latin typeface="Open Sans"/>
              </a:rPr>
              <a:t>Harriott, P., Process control, McGraw‐Hill, New York (1964)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28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298AE2-5E5A-41AC-8F30-F2BA86DA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Overdamped Second Order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D79697F-9CD8-4F30-9366-FAC21CD96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General form: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b="0" dirty="0"/>
                  <a:t> is the system steady-state gain.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/>
                  <a:t> are the time constants.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/>
                  <a:t> is the time delay.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D79697F-9CD8-4F30-9366-FAC21CD96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81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03B784-A550-45EB-B7E2-0384B684DE52}"/>
              </a:ext>
            </a:extLst>
          </p:cNvPr>
          <p:cNvCxnSpPr>
            <a:cxnSpLocks/>
          </p:cNvCxnSpPr>
          <p:nvPr/>
        </p:nvCxnSpPr>
        <p:spPr>
          <a:xfrm flipH="1" flipV="1">
            <a:off x="4562931" y="1387746"/>
            <a:ext cx="12670" cy="2717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5250E57-FC48-46F8-8D7D-04547F2AAAF5}"/>
              </a:ext>
            </a:extLst>
          </p:cNvPr>
          <p:cNvCxnSpPr>
            <a:cxnSpLocks/>
          </p:cNvCxnSpPr>
          <p:nvPr/>
        </p:nvCxnSpPr>
        <p:spPr>
          <a:xfrm>
            <a:off x="4575601" y="4105546"/>
            <a:ext cx="5023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8EFEC84-27B8-42CA-B8C3-0A008CB3449F}"/>
              </a:ext>
            </a:extLst>
          </p:cNvPr>
          <p:cNvSpPr/>
          <p:nvPr/>
        </p:nvSpPr>
        <p:spPr>
          <a:xfrm>
            <a:off x="5185201" y="2163310"/>
            <a:ext cx="4254500" cy="1431144"/>
          </a:xfrm>
          <a:custGeom>
            <a:avLst/>
            <a:gdLst>
              <a:gd name="connsiteX0" fmla="*/ 0 w 4254500"/>
              <a:gd name="connsiteY0" fmla="*/ 1431144 h 1431144"/>
              <a:gd name="connsiteX1" fmla="*/ 1244600 w 4254500"/>
              <a:gd name="connsiteY1" fmla="*/ 211944 h 1431144"/>
              <a:gd name="connsiteX2" fmla="*/ 4254500 w 4254500"/>
              <a:gd name="connsiteY2" fmla="*/ 8744 h 143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4500" h="1431144">
                <a:moveTo>
                  <a:pt x="0" y="1431144"/>
                </a:moveTo>
                <a:cubicBezTo>
                  <a:pt x="267758" y="940077"/>
                  <a:pt x="535517" y="449011"/>
                  <a:pt x="1244600" y="211944"/>
                </a:cubicBezTo>
                <a:cubicBezTo>
                  <a:pt x="1953683" y="-25123"/>
                  <a:pt x="3104091" y="-8190"/>
                  <a:pt x="4254500" y="874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EA2B06D-B51D-4C59-9F4D-7B6EA3F04F5C}"/>
              </a:ext>
            </a:extLst>
          </p:cNvPr>
          <p:cNvCxnSpPr>
            <a:stCxn id="42" idx="0"/>
          </p:cNvCxnSpPr>
          <p:nvPr/>
        </p:nvCxnSpPr>
        <p:spPr>
          <a:xfrm flipH="1">
            <a:off x="4575601" y="3594454"/>
            <a:ext cx="609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02B8EA-4F19-477B-8D99-ED2CC19B2C4E}"/>
              </a:ext>
            </a:extLst>
          </p:cNvPr>
          <p:cNvCxnSpPr>
            <a:cxnSpLocks/>
          </p:cNvCxnSpPr>
          <p:nvPr/>
        </p:nvCxnSpPr>
        <p:spPr>
          <a:xfrm>
            <a:off x="5185201" y="3594454"/>
            <a:ext cx="0" cy="5928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E0C4F77-FCEE-4E48-AB76-09EFCB47F9EF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3610549" y="2172054"/>
            <a:ext cx="582915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28FE46D-D7F3-4E00-BFC6-AF7183BC8173}"/>
                  </a:ext>
                </a:extLst>
              </p:cNvPr>
              <p:cNvSpPr txBox="1"/>
              <p:nvPr/>
            </p:nvSpPr>
            <p:spPr>
              <a:xfrm rot="16200000">
                <a:off x="3302548" y="2775986"/>
                <a:ext cx="3390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28FE46D-D7F3-4E00-BFC6-AF7183BC8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302548" y="2775986"/>
                <a:ext cx="339003" cy="276999"/>
              </a:xfrm>
              <a:prstGeom prst="rect">
                <a:avLst/>
              </a:prstGeom>
              <a:blipFill>
                <a:blip r:embed="rId2"/>
                <a:stretch>
                  <a:fillRect t="-3571" r="-26667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6D027A5-5CD4-4590-B428-55836F710322}"/>
              </a:ext>
            </a:extLst>
          </p:cNvPr>
          <p:cNvCxnSpPr>
            <a:cxnSpLocks/>
          </p:cNvCxnSpPr>
          <p:nvPr/>
        </p:nvCxnSpPr>
        <p:spPr>
          <a:xfrm>
            <a:off x="6310058" y="2405734"/>
            <a:ext cx="0" cy="26586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FB18DD7-4AAB-45F9-917B-0CAFD234B409}"/>
                  </a:ext>
                </a:extLst>
              </p:cNvPr>
              <p:cNvSpPr txBox="1"/>
              <p:nvPr/>
            </p:nvSpPr>
            <p:spPr>
              <a:xfrm>
                <a:off x="5202930" y="5058020"/>
                <a:ext cx="34599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FB18DD7-4AAB-45F9-917B-0CAFD234B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930" y="5058020"/>
                <a:ext cx="345992" cy="276999"/>
              </a:xfrm>
              <a:prstGeom prst="rect">
                <a:avLst/>
              </a:prstGeom>
              <a:blipFill>
                <a:blip r:embed="rId3"/>
                <a:stretch>
                  <a:fillRect l="-14035" r="-5263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183B562-C8A8-42AD-868E-291519968B9C}"/>
              </a:ext>
            </a:extLst>
          </p:cNvPr>
          <p:cNvCxnSpPr>
            <a:cxnSpLocks/>
          </p:cNvCxnSpPr>
          <p:nvPr/>
        </p:nvCxnSpPr>
        <p:spPr>
          <a:xfrm flipH="1" flipV="1">
            <a:off x="3992981" y="2405733"/>
            <a:ext cx="2317078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02FEBFE-1102-435F-9885-2F5B381B7CC3}"/>
                  </a:ext>
                </a:extLst>
              </p:cNvPr>
              <p:cNvSpPr txBox="1"/>
              <p:nvPr/>
            </p:nvSpPr>
            <p:spPr>
              <a:xfrm rot="16200000">
                <a:off x="3631182" y="2792551"/>
                <a:ext cx="38087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02FEBFE-1102-435F-9885-2F5B381B7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631182" y="2792551"/>
                <a:ext cx="380873" cy="276999"/>
              </a:xfrm>
              <a:prstGeom prst="rect">
                <a:avLst/>
              </a:prstGeom>
              <a:blipFill>
                <a:blip r:embed="rId4"/>
                <a:stretch>
                  <a:fillRect t="-4839" r="-23913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Left Brace 60">
            <a:extLst>
              <a:ext uri="{FF2B5EF4-FFF2-40B4-BE49-F238E27FC236}">
                <a16:creationId xmlns:a16="http://schemas.microsoft.com/office/drawing/2014/main" id="{2BF42164-3C28-404A-84C2-39A30D663504}"/>
              </a:ext>
            </a:extLst>
          </p:cNvPr>
          <p:cNvSpPr/>
          <p:nvPr/>
        </p:nvSpPr>
        <p:spPr>
          <a:xfrm>
            <a:off x="4297281" y="3633179"/>
            <a:ext cx="233378" cy="510467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D9E406-737B-48E0-82B4-9D53DAAADD7A}"/>
              </a:ext>
            </a:extLst>
          </p:cNvPr>
          <p:cNvSpPr txBox="1"/>
          <p:nvPr/>
        </p:nvSpPr>
        <p:spPr>
          <a:xfrm>
            <a:off x="3397004" y="4256132"/>
            <a:ext cx="116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the offset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AFB68A9F-7DD9-4E3A-9CDB-841831D2EF46}"/>
              </a:ext>
            </a:extLst>
          </p:cNvPr>
          <p:cNvSpPr/>
          <p:nvPr/>
        </p:nvSpPr>
        <p:spPr>
          <a:xfrm>
            <a:off x="3800433" y="3793097"/>
            <a:ext cx="385097" cy="463035"/>
          </a:xfrm>
          <a:custGeom>
            <a:avLst/>
            <a:gdLst>
              <a:gd name="connsiteX0" fmla="*/ 167382 w 385097"/>
              <a:gd name="connsiteY0" fmla="*/ 463035 h 463035"/>
              <a:gd name="connsiteX1" fmla="*/ 7725 w 385097"/>
              <a:gd name="connsiteY1" fmla="*/ 56635 h 463035"/>
              <a:gd name="connsiteX2" fmla="*/ 385097 w 385097"/>
              <a:gd name="connsiteY2" fmla="*/ 13092 h 463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097" h="463035">
                <a:moveTo>
                  <a:pt x="167382" y="463035"/>
                </a:moveTo>
                <a:cubicBezTo>
                  <a:pt x="69410" y="297330"/>
                  <a:pt x="-28561" y="131625"/>
                  <a:pt x="7725" y="56635"/>
                </a:cubicBezTo>
                <a:cubicBezTo>
                  <a:pt x="44011" y="-18355"/>
                  <a:pt x="214554" y="-2632"/>
                  <a:pt x="385097" y="13092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AE13788-B526-4F75-8854-1C1CF33CF7B3}"/>
                  </a:ext>
                </a:extLst>
              </p:cNvPr>
              <p:cNvSpPr txBox="1"/>
              <p:nvPr/>
            </p:nvSpPr>
            <p:spPr>
              <a:xfrm>
                <a:off x="4880400" y="5650695"/>
                <a:ext cx="3373680" cy="520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Amplitude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step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input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AE13788-B526-4F75-8854-1C1CF33C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400" y="5650695"/>
                <a:ext cx="3373680" cy="5209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D4400D5-D3A3-4860-8BA4-E829E8077455}"/>
              </a:ext>
            </a:extLst>
          </p:cNvPr>
          <p:cNvCxnSpPr>
            <a:cxnSpLocks/>
          </p:cNvCxnSpPr>
          <p:nvPr/>
        </p:nvCxnSpPr>
        <p:spPr>
          <a:xfrm flipV="1">
            <a:off x="3979967" y="2437892"/>
            <a:ext cx="0" cy="116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0C296F9-A933-4EA5-A9BC-9E7D5AEF8543}"/>
              </a:ext>
            </a:extLst>
          </p:cNvPr>
          <p:cNvCxnSpPr>
            <a:cxnSpLocks/>
          </p:cNvCxnSpPr>
          <p:nvPr/>
        </p:nvCxnSpPr>
        <p:spPr>
          <a:xfrm flipV="1">
            <a:off x="3610549" y="2172054"/>
            <a:ext cx="0" cy="1431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1B951A4-159A-43F3-A317-0CE22D037630}"/>
              </a:ext>
            </a:extLst>
          </p:cNvPr>
          <p:cNvCxnSpPr>
            <a:cxnSpLocks/>
          </p:cNvCxnSpPr>
          <p:nvPr/>
        </p:nvCxnSpPr>
        <p:spPr>
          <a:xfrm flipH="1">
            <a:off x="3610549" y="3594454"/>
            <a:ext cx="96505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32B3CA3-992F-4D39-B78F-2F4FB82536AB}"/>
              </a:ext>
            </a:extLst>
          </p:cNvPr>
          <p:cNvCxnSpPr>
            <a:cxnSpLocks/>
          </p:cNvCxnSpPr>
          <p:nvPr/>
        </p:nvCxnSpPr>
        <p:spPr>
          <a:xfrm>
            <a:off x="4588122" y="5064383"/>
            <a:ext cx="17325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F06748B-0B77-434C-A267-CDBF6DF7C10A}"/>
              </a:ext>
            </a:extLst>
          </p:cNvPr>
          <p:cNvCxnSpPr>
            <a:cxnSpLocks/>
          </p:cNvCxnSpPr>
          <p:nvPr/>
        </p:nvCxnSpPr>
        <p:spPr>
          <a:xfrm>
            <a:off x="4575600" y="4187280"/>
            <a:ext cx="609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C5FD6DE-F28A-45E4-8780-F10662F26C46}"/>
                  </a:ext>
                </a:extLst>
              </p:cNvPr>
              <p:cNvSpPr txBox="1"/>
              <p:nvPr/>
            </p:nvSpPr>
            <p:spPr>
              <a:xfrm>
                <a:off x="4735660" y="4158453"/>
                <a:ext cx="1894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C5FD6DE-F28A-45E4-8780-F10662F2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660" y="4158453"/>
                <a:ext cx="189474" cy="276999"/>
              </a:xfrm>
              <a:prstGeom prst="rect">
                <a:avLst/>
              </a:prstGeom>
              <a:blipFill>
                <a:blip r:embed="rId6"/>
                <a:stretch>
                  <a:fillRect l="-32258" r="-2258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1C472F5-CAA4-443E-9EDD-BFBB182D2178}"/>
              </a:ext>
            </a:extLst>
          </p:cNvPr>
          <p:cNvCxnSpPr>
            <a:cxnSpLocks/>
          </p:cNvCxnSpPr>
          <p:nvPr/>
        </p:nvCxnSpPr>
        <p:spPr>
          <a:xfrm>
            <a:off x="4577472" y="4105546"/>
            <a:ext cx="10650" cy="9588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C985442-F603-446F-BCE3-37007B0E8717}"/>
              </a:ext>
            </a:extLst>
          </p:cNvPr>
          <p:cNvCxnSpPr>
            <a:cxnSpLocks/>
          </p:cNvCxnSpPr>
          <p:nvPr/>
        </p:nvCxnSpPr>
        <p:spPr>
          <a:xfrm flipH="1" flipV="1">
            <a:off x="4459057" y="2941523"/>
            <a:ext cx="1038437" cy="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D69762-089B-40F4-8B1B-9AB7B09CE8D3}"/>
              </a:ext>
            </a:extLst>
          </p:cNvPr>
          <p:cNvCxnSpPr>
            <a:cxnSpLocks/>
          </p:cNvCxnSpPr>
          <p:nvPr/>
        </p:nvCxnSpPr>
        <p:spPr>
          <a:xfrm flipV="1">
            <a:off x="4385174" y="2887627"/>
            <a:ext cx="0" cy="683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D6FC694-78CE-42BA-8AE8-4FA4E25DD799}"/>
                  </a:ext>
                </a:extLst>
              </p:cNvPr>
              <p:cNvSpPr txBox="1"/>
              <p:nvPr/>
            </p:nvSpPr>
            <p:spPr>
              <a:xfrm rot="16200000">
                <a:off x="3998849" y="3100064"/>
                <a:ext cx="38087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D6FC694-78CE-42BA-8AE8-4FA4E25DD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998849" y="3100064"/>
                <a:ext cx="380873" cy="276999"/>
              </a:xfrm>
              <a:prstGeom prst="rect">
                <a:avLst/>
              </a:prstGeom>
              <a:blipFill>
                <a:blip r:embed="rId7"/>
                <a:stretch>
                  <a:fillRect r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D1FC91D-1EAB-4CBD-85E9-A0B76F6770C6}"/>
              </a:ext>
            </a:extLst>
          </p:cNvPr>
          <p:cNvCxnSpPr>
            <a:cxnSpLocks/>
          </p:cNvCxnSpPr>
          <p:nvPr/>
        </p:nvCxnSpPr>
        <p:spPr>
          <a:xfrm flipV="1">
            <a:off x="5633781" y="2941525"/>
            <a:ext cx="0" cy="16517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348CE5B-B525-4C0F-8D6C-690654388C7B}"/>
              </a:ext>
            </a:extLst>
          </p:cNvPr>
          <p:cNvCxnSpPr>
            <a:cxnSpLocks/>
          </p:cNvCxnSpPr>
          <p:nvPr/>
        </p:nvCxnSpPr>
        <p:spPr>
          <a:xfrm>
            <a:off x="4588122" y="4593289"/>
            <a:ext cx="1045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245CBDF-91F3-4055-8B6D-38C4E73545FE}"/>
                  </a:ext>
                </a:extLst>
              </p:cNvPr>
              <p:cNvSpPr txBox="1"/>
              <p:nvPr/>
            </p:nvSpPr>
            <p:spPr>
              <a:xfrm>
                <a:off x="5016214" y="4616984"/>
                <a:ext cx="18947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245CBDF-91F3-4055-8B6D-38C4E7354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14" y="4616984"/>
                <a:ext cx="189474" cy="276999"/>
              </a:xfrm>
              <a:prstGeom prst="rect">
                <a:avLst/>
              </a:prstGeom>
              <a:blipFill>
                <a:blip r:embed="rId8"/>
                <a:stretch>
                  <a:fillRect l="-41935" r="-161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TextBox 128">
            <a:extLst>
              <a:ext uri="{FF2B5EF4-FFF2-40B4-BE49-F238E27FC236}">
                <a16:creationId xmlns:a16="http://schemas.microsoft.com/office/drawing/2014/main" id="{34B64C7C-8119-410D-A0F8-E81244C951AC}"/>
              </a:ext>
            </a:extLst>
          </p:cNvPr>
          <p:cNvSpPr txBox="1"/>
          <p:nvPr/>
        </p:nvSpPr>
        <p:spPr>
          <a:xfrm>
            <a:off x="1121609" y="1039775"/>
            <a:ext cx="282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acquired step response:</a:t>
            </a:r>
          </a:p>
        </p:txBody>
      </p:sp>
    </p:spTree>
    <p:extLst>
      <p:ext uri="{BB962C8B-B14F-4D97-AF65-F5344CB8AC3E}">
        <p14:creationId xmlns:p14="http://schemas.microsoft.com/office/powerpoint/2010/main" val="187075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80BC112-D95B-40E3-9D78-D38F3FECFF0F}"/>
                  </a:ext>
                </a:extLst>
              </p:cNvPr>
              <p:cNvSpPr/>
              <p:nvPr/>
            </p:nvSpPr>
            <p:spPr>
              <a:xfrm>
                <a:off x="8359349" y="0"/>
                <a:ext cx="3240016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72</m:t>
                        </m:r>
                      </m:sub>
                    </m:sSub>
                  </m:oMath>
                </a14:m>
                <a:r>
                  <a:rPr lang="en-US" b="0" dirty="0"/>
                  <a:t> from the step response plot</a:t>
                </a:r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80BC112-D95B-40E3-9D78-D38F3FECF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49" y="0"/>
                <a:ext cx="3240016" cy="887104"/>
              </a:xfrm>
              <a:prstGeom prst="rect">
                <a:avLst/>
              </a:prstGeom>
              <a:blipFill>
                <a:blip r:embed="rId2"/>
                <a:stretch>
                  <a:fillRect t="-4730" r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36DC4A0-78A8-4996-B1B8-2FC0B97B79A9}"/>
              </a:ext>
            </a:extLst>
          </p:cNvPr>
          <p:cNvSpPr/>
          <p:nvPr/>
        </p:nvSpPr>
        <p:spPr>
          <a:xfrm>
            <a:off x="510749" y="0"/>
            <a:ext cx="3240016" cy="887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the offset</a:t>
            </a:r>
            <a:endParaRPr lang="en-US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6A91157-574D-45C4-924A-817A04AD9354}"/>
                  </a:ext>
                </a:extLst>
              </p:cNvPr>
              <p:cNvSpPr/>
              <p:nvPr/>
            </p:nvSpPr>
            <p:spPr>
              <a:xfrm>
                <a:off x="4435049" y="0"/>
                <a:ext cx="3240016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ss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ss</m:t>
                        </m:r>
                      </m:sub>
                    </m:sSub>
                  </m:oMath>
                </a14:m>
                <a:endParaRPr lang="en-US" b="0" dirty="0"/>
              </a:p>
              <a:p>
                <a:pPr algn="ctr"/>
                <a:endParaRPr lang="en-US" b="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6A91157-574D-45C4-924A-817A04AD93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049" y="0"/>
                <a:ext cx="3240016" cy="887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1AFC2B-6656-4056-9723-196D2D71D3A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750765" y="443552"/>
            <a:ext cx="68428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44D077-B458-48BE-B767-8C218CE5FC6C}"/>
              </a:ext>
            </a:extLst>
          </p:cNvPr>
          <p:cNvCxnSpPr/>
          <p:nvPr/>
        </p:nvCxnSpPr>
        <p:spPr>
          <a:xfrm>
            <a:off x="7675065" y="441408"/>
            <a:ext cx="68428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ED44E2-A927-4E84-AA62-6BDDD3779E0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79357" y="887104"/>
            <a:ext cx="0" cy="511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B629FB-4C66-47ED-B18B-B89BD6175F72}"/>
                  </a:ext>
                </a:extLst>
              </p:cNvPr>
              <p:cNvSpPr/>
              <p:nvPr/>
            </p:nvSpPr>
            <p:spPr>
              <a:xfrm>
                <a:off x="8359349" y="1398196"/>
                <a:ext cx="3240016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1.25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B629FB-4C66-47ED-B18B-B89BD6175F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49" y="1398196"/>
                <a:ext cx="3240016" cy="887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F214BD9-BD59-42EA-80EE-C59E19FB8D91}"/>
                  </a:ext>
                </a:extLst>
              </p:cNvPr>
              <p:cNvSpPr/>
              <p:nvPr/>
            </p:nvSpPr>
            <p:spPr>
              <a:xfrm>
                <a:off x="510749" y="1398196"/>
                <a:ext cx="3240016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F214BD9-BD59-42EA-80EE-C59E19FB8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49" y="1398196"/>
                <a:ext cx="3240016" cy="8871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C240903-5A9B-4658-B169-33C0D394104A}"/>
                  </a:ext>
                </a:extLst>
              </p:cNvPr>
              <p:cNvSpPr/>
              <p:nvPr/>
            </p:nvSpPr>
            <p:spPr>
              <a:xfrm>
                <a:off x="4435049" y="1398196"/>
                <a:ext cx="3240016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C240903-5A9B-4658-B169-33C0D39410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049" y="1398196"/>
                <a:ext cx="3240016" cy="8871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103CCF-5C77-4D30-BA48-4CAC0524759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3750765" y="1841748"/>
            <a:ext cx="684284" cy="0"/>
          </a:xfrm>
          <a:prstGeom prst="straightConnector1">
            <a:avLst/>
          </a:prstGeom>
          <a:ln w="762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9C86A9-6F47-4CD3-91BB-A88396FB87F1}"/>
              </a:ext>
            </a:extLst>
          </p:cNvPr>
          <p:cNvCxnSpPr/>
          <p:nvPr/>
        </p:nvCxnSpPr>
        <p:spPr>
          <a:xfrm>
            <a:off x="7675065" y="1839604"/>
            <a:ext cx="684284" cy="0"/>
          </a:xfrm>
          <a:prstGeom prst="straightConnector1">
            <a:avLst/>
          </a:prstGeom>
          <a:ln w="762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B0AAF8-FBD2-4AB9-8619-8A707771A2EC}"/>
              </a:ext>
            </a:extLst>
          </p:cNvPr>
          <p:cNvCxnSpPr>
            <a:cxnSpLocks/>
          </p:cNvCxnSpPr>
          <p:nvPr/>
        </p:nvCxnSpPr>
        <p:spPr>
          <a:xfrm>
            <a:off x="1991057" y="2285300"/>
            <a:ext cx="0" cy="511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8D46B06-DA99-4B55-AE56-0D57A23CC37A}"/>
                  </a:ext>
                </a:extLst>
              </p:cNvPr>
              <p:cNvSpPr/>
              <p:nvPr/>
            </p:nvSpPr>
            <p:spPr>
              <a:xfrm>
                <a:off x="3750765" y="3037061"/>
                <a:ext cx="1517271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8D46B06-DA99-4B55-AE56-0D57A23CC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765" y="3037061"/>
                <a:ext cx="1517271" cy="8871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lowchart: Decision 17">
                <a:extLst>
                  <a:ext uri="{FF2B5EF4-FFF2-40B4-BE49-F238E27FC236}">
                    <a16:creationId xmlns:a16="http://schemas.microsoft.com/office/drawing/2014/main" id="{1631016E-E717-418F-91E8-C2B73895C490}"/>
                  </a:ext>
                </a:extLst>
              </p:cNvPr>
              <p:cNvSpPr/>
              <p:nvPr/>
            </p:nvSpPr>
            <p:spPr>
              <a:xfrm>
                <a:off x="774396" y="2807984"/>
                <a:ext cx="2433321" cy="1377930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&lt;0.27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18" name="Flowchart: Decision 17">
                <a:extLst>
                  <a:ext uri="{FF2B5EF4-FFF2-40B4-BE49-F238E27FC236}">
                    <a16:creationId xmlns:a16="http://schemas.microsoft.com/office/drawing/2014/main" id="{1631016E-E717-418F-91E8-C2B73895C4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96" y="2807984"/>
                <a:ext cx="2433321" cy="1377930"/>
              </a:xfrm>
              <a:prstGeom prst="flowChartDecision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lowchart: Decision 18">
                <a:extLst>
                  <a:ext uri="{FF2B5EF4-FFF2-40B4-BE49-F238E27FC236}">
                    <a16:creationId xmlns:a16="http://schemas.microsoft.com/office/drawing/2014/main" id="{8EE99892-412B-4FA4-B108-614F957B081F}"/>
                  </a:ext>
                </a:extLst>
              </p:cNvPr>
              <p:cNvSpPr/>
              <p:nvPr/>
            </p:nvSpPr>
            <p:spPr>
              <a:xfrm>
                <a:off x="774393" y="4696774"/>
                <a:ext cx="2433321" cy="1377930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&gt;0.4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19" name="Flowchart: Decision 18">
                <a:extLst>
                  <a:ext uri="{FF2B5EF4-FFF2-40B4-BE49-F238E27FC236}">
                    <a16:creationId xmlns:a16="http://schemas.microsoft.com/office/drawing/2014/main" id="{8EE99892-412B-4FA4-B108-614F957B08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93" y="4696774"/>
                <a:ext cx="2433321" cy="1377930"/>
              </a:xfrm>
              <a:prstGeom prst="flowChartDecision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5C2F7D-3407-4AA9-8510-52B4D50B50FB}"/>
              </a:ext>
            </a:extLst>
          </p:cNvPr>
          <p:cNvCxnSpPr>
            <a:cxnSpLocks/>
          </p:cNvCxnSpPr>
          <p:nvPr/>
        </p:nvCxnSpPr>
        <p:spPr>
          <a:xfrm>
            <a:off x="1991054" y="4185914"/>
            <a:ext cx="0" cy="511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5DE233-700F-4FC6-9E64-91DD5AE65BCF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 flipV="1">
            <a:off x="3207717" y="3480613"/>
            <a:ext cx="543048" cy="163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C4E8B6C-A1F4-4B65-803D-49BC1643F6E6}"/>
              </a:ext>
            </a:extLst>
          </p:cNvPr>
          <p:cNvSpPr txBox="1"/>
          <p:nvPr/>
        </p:nvSpPr>
        <p:spPr>
          <a:xfrm>
            <a:off x="3063844" y="3061749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44DA90-FEA9-45BF-984E-6971AAEACBA1}"/>
              </a:ext>
            </a:extLst>
          </p:cNvPr>
          <p:cNvSpPr txBox="1"/>
          <p:nvPr/>
        </p:nvSpPr>
        <p:spPr>
          <a:xfrm>
            <a:off x="1991054" y="409575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72144E-7977-4967-B28B-6D60F16C2063}"/>
              </a:ext>
            </a:extLst>
          </p:cNvPr>
          <p:cNvCxnSpPr>
            <a:cxnSpLocks/>
          </p:cNvCxnSpPr>
          <p:nvPr/>
        </p:nvCxnSpPr>
        <p:spPr>
          <a:xfrm>
            <a:off x="3161693" y="5395589"/>
            <a:ext cx="58907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4EAB74C-3B44-4BCF-9109-016C3A6BD0E5}"/>
              </a:ext>
            </a:extLst>
          </p:cNvPr>
          <p:cNvSpPr txBox="1"/>
          <p:nvPr/>
        </p:nvSpPr>
        <p:spPr>
          <a:xfrm>
            <a:off x="3101595" y="491041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530BF18-9F5E-466C-9008-04DC45126078}"/>
                  </a:ext>
                </a:extLst>
              </p:cNvPr>
              <p:cNvSpPr/>
              <p:nvPr/>
            </p:nvSpPr>
            <p:spPr>
              <a:xfrm>
                <a:off x="3750765" y="4952037"/>
                <a:ext cx="1517271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Decrease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530BF18-9F5E-466C-9008-04DC45126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765" y="4952037"/>
                <a:ext cx="1517271" cy="8871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1CFFE30-D1B8-47B4-8F47-B0F94EC6C05F}"/>
                  </a:ext>
                </a:extLst>
              </p:cNvPr>
              <p:cNvSpPr/>
              <p:nvPr/>
            </p:nvSpPr>
            <p:spPr>
              <a:xfrm>
                <a:off x="7341642" y="5973040"/>
                <a:ext cx="1938074" cy="887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b="0" dirty="0"/>
                  <a:t> from the Hariot’s plot</a:t>
                </a: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1CFFE30-D1B8-47B4-8F47-B0F94EC6C0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642" y="5973040"/>
                <a:ext cx="1938074" cy="8871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5435D39-8FC0-4917-9BB7-8994F914030D}"/>
              </a:ext>
            </a:extLst>
          </p:cNvPr>
          <p:cNvCxnSpPr>
            <a:cxnSpLocks/>
            <a:stCxn id="16" idx="3"/>
            <a:endCxn id="12" idx="2"/>
          </p:cNvCxnSpPr>
          <p:nvPr/>
        </p:nvCxnSpPr>
        <p:spPr>
          <a:xfrm flipV="1">
            <a:off x="5268036" y="2285300"/>
            <a:ext cx="787021" cy="1195313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C5C6057-4622-4CBE-A393-7E7A55328E0E}"/>
              </a:ext>
            </a:extLst>
          </p:cNvPr>
          <p:cNvCxnSpPr>
            <a:cxnSpLocks/>
            <a:stCxn id="27" idx="3"/>
            <a:endCxn id="12" idx="2"/>
          </p:cNvCxnSpPr>
          <p:nvPr/>
        </p:nvCxnSpPr>
        <p:spPr>
          <a:xfrm flipV="1">
            <a:off x="5268036" y="2285300"/>
            <a:ext cx="787021" cy="3110289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0AF6C7F-7969-47C9-943D-AE9458171CC1}"/>
                  </a:ext>
                </a:extLst>
              </p:cNvPr>
              <p:cNvSpPr/>
              <p:nvPr/>
            </p:nvSpPr>
            <p:spPr>
              <a:xfrm>
                <a:off x="7341642" y="4041818"/>
                <a:ext cx="1938074" cy="13340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0AF6C7F-7969-47C9-943D-AE9458171C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642" y="4041818"/>
                <a:ext cx="1938074" cy="13340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7078D1-9382-419F-BB92-9A2754D7DE42}"/>
              </a:ext>
            </a:extLst>
          </p:cNvPr>
          <p:cNvCxnSpPr>
            <a:cxnSpLocks/>
          </p:cNvCxnSpPr>
          <p:nvPr/>
        </p:nvCxnSpPr>
        <p:spPr>
          <a:xfrm flipV="1">
            <a:off x="8359349" y="5375888"/>
            <a:ext cx="0" cy="6988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1A09BEED-F33F-4797-B827-66E8B8F26716}"/>
              </a:ext>
            </a:extLst>
          </p:cNvPr>
          <p:cNvCxnSpPr>
            <a:cxnSpLocks/>
            <a:stCxn id="19" idx="2"/>
            <a:endCxn id="29" idx="1"/>
          </p:cNvCxnSpPr>
          <p:nvPr/>
        </p:nvCxnSpPr>
        <p:spPr>
          <a:xfrm rot="16200000" flipH="1">
            <a:off x="4495404" y="3570354"/>
            <a:ext cx="341888" cy="5350588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9EDBC84-DB99-42C8-AA07-7D22C0361A91}"/>
              </a:ext>
            </a:extLst>
          </p:cNvPr>
          <p:cNvSpPr txBox="1"/>
          <p:nvPr/>
        </p:nvSpPr>
        <p:spPr>
          <a:xfrm>
            <a:off x="2849683" y="600688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60563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006C8D-7F40-44DC-88CA-02E6557F3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55" y="272955"/>
            <a:ext cx="10959152" cy="670241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6C1480-A1CB-4DC2-9346-2E4E938C5157}"/>
              </a:ext>
            </a:extLst>
          </p:cNvPr>
          <p:cNvSpPr/>
          <p:nvPr/>
        </p:nvSpPr>
        <p:spPr>
          <a:xfrm>
            <a:off x="6687403" y="1610437"/>
            <a:ext cx="4258102" cy="410797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62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D3ED4D-3BFE-442D-B614-F228BD9CD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016" y="382137"/>
            <a:ext cx="8511247" cy="62469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1686E0-5BCD-4294-8A55-2204D4416D71}"/>
              </a:ext>
            </a:extLst>
          </p:cNvPr>
          <p:cNvSpPr/>
          <p:nvPr/>
        </p:nvSpPr>
        <p:spPr>
          <a:xfrm>
            <a:off x="6806038" y="6444405"/>
            <a:ext cx="5385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http://www.users.abo.fi/khaggblo/PDC/PDC5milver.pdf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53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153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Open Sans</vt:lpstr>
      <vt:lpstr>Office Theme</vt:lpstr>
      <vt:lpstr>Harriott’s1 Model for Overdamped Systems</vt:lpstr>
      <vt:lpstr>Overdamped Second Order System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Hariott Model</dc:title>
  <dc:creator>Lenovo</dc:creator>
  <cp:lastModifiedBy>Lenovo</cp:lastModifiedBy>
  <cp:revision>27</cp:revision>
  <dcterms:created xsi:type="dcterms:W3CDTF">2020-08-01T18:06:34Z</dcterms:created>
  <dcterms:modified xsi:type="dcterms:W3CDTF">2020-08-02T15:26:08Z</dcterms:modified>
</cp:coreProperties>
</file>
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9" r:id="rId11"/>
    <p:sldId id="267" r:id="rId12"/>
    <p:sldId id="266" r:id="rId13"/>
    <p:sldId id="268" r:id="rId14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02DCEE4-2458-4E44-81F8-714F0B9AB005}" v="52" dt="2020-06-01T08:24:56.5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6" d="100"/>
          <a:sy n="66" d="100"/>
        </p:scale>
        <p:origin x="1422" y="6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uralius Manurung" userId="/cByStHXhlp8UySsVrptnwXk+dA77q+o7bCt7JiD7r0=" providerId="None" clId="Web-{802DCEE4-2458-4E44-81F8-714F0B9AB005}"/>
    <pc:docChg chg="modSld">
      <pc:chgData name="Auralius Manurung" userId="/cByStHXhlp8UySsVrptnwXk+dA77q+o7bCt7JiD7r0=" providerId="None" clId="Web-{802DCEE4-2458-4E44-81F8-714F0B9AB005}" dt="2020-06-01T08:24:54.006" v="49" actId="20577"/>
      <pc:docMkLst>
        <pc:docMk/>
      </pc:docMkLst>
      <pc:sldChg chg="modSp">
        <pc:chgData name="Auralius Manurung" userId="/cByStHXhlp8UySsVrptnwXk+dA77q+o7bCt7JiD7r0=" providerId="None" clId="Web-{802DCEE4-2458-4E44-81F8-714F0B9AB005}" dt="2020-06-01T08:24:54.006" v="48" actId="20577"/>
        <pc:sldMkLst>
          <pc:docMk/>
          <pc:sldMk cId="893686744" sldId="256"/>
        </pc:sldMkLst>
        <pc:spChg chg="mod">
          <ac:chgData name="Auralius Manurung" userId="/cByStHXhlp8UySsVrptnwXk+dA77q+o7bCt7JiD7r0=" providerId="None" clId="Web-{802DCEE4-2458-4E44-81F8-714F0B9AB005}" dt="2020-06-01T08:24:22.850" v="0" actId="20577"/>
          <ac:spMkLst>
            <pc:docMk/>
            <pc:sldMk cId="893686744" sldId="256"/>
            <ac:spMk id="2" creationId="{00000000-0000-0000-0000-000000000000}"/>
          </ac:spMkLst>
        </pc:spChg>
        <pc:spChg chg="mod">
          <ac:chgData name="Auralius Manurung" userId="/cByStHXhlp8UySsVrptnwXk+dA77q+o7bCt7JiD7r0=" providerId="None" clId="Web-{802DCEE4-2458-4E44-81F8-714F0B9AB005}" dt="2020-06-01T08:24:54.006" v="48" actId="20577"/>
          <ac:spMkLst>
            <pc:docMk/>
            <pc:sldMk cId="893686744" sldId="256"/>
            <ac:spMk id="3" creationId="{00000000-0000-0000-0000-00000000000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9846D-D1B1-4FA7-8A7C-C08658FC4A10}" type="datetimeFigureOut">
              <a:rPr lang="en-US" smtClean="0"/>
              <a:t>6/28/2020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B2951-9FBF-43C8-B35B-C96EEEF996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573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9846D-D1B1-4FA7-8A7C-C08658FC4A10}" type="datetimeFigureOut">
              <a:rPr lang="en-US" smtClean="0"/>
              <a:t>6/28/2020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B2951-9FBF-43C8-B35B-C96EEEF996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510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9846D-D1B1-4FA7-8A7C-C08658FC4A10}" type="datetimeFigureOut">
              <a:rPr lang="en-US" smtClean="0"/>
              <a:t>6/28/2020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B2951-9FBF-43C8-B35B-C96EEEF996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54462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9846D-D1B1-4FA7-8A7C-C08658FC4A10}" type="datetimeFigureOut">
              <a:rPr lang="en-US" smtClean="0"/>
              <a:t>6/28/2020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B2951-9FBF-43C8-B35B-C96EEEF996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177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9846D-D1B1-4FA7-8A7C-C08658FC4A10}" type="datetimeFigureOut">
              <a:rPr lang="en-US" smtClean="0"/>
              <a:t>6/28/2020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B2951-9FBF-43C8-B35B-C96EEEF996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88871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9846D-D1B1-4FA7-8A7C-C08658FC4A10}" type="datetimeFigureOut">
              <a:rPr lang="en-US" smtClean="0"/>
              <a:t>6/28/2020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B2951-9FBF-43C8-B35B-C96EEEF996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7431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9846D-D1B1-4FA7-8A7C-C08658FC4A10}" type="datetimeFigureOut">
              <a:rPr lang="en-US" smtClean="0"/>
              <a:t>6/28/2020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B2951-9FBF-43C8-B35B-C96EEEF996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4510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9846D-D1B1-4FA7-8A7C-C08658FC4A10}" type="datetimeFigureOut">
              <a:rPr lang="en-US" smtClean="0"/>
              <a:t>6/28/2020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B2951-9FBF-43C8-B35B-C96EEEF996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4901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9846D-D1B1-4FA7-8A7C-C08658FC4A10}" type="datetimeFigureOut">
              <a:rPr lang="en-US" smtClean="0"/>
              <a:t>6/28/2020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B2951-9FBF-43C8-B35B-C96EEEF996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7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9846D-D1B1-4FA7-8A7C-C08658FC4A10}" type="datetimeFigureOut">
              <a:rPr lang="en-US" smtClean="0"/>
              <a:t>6/28/2020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B2951-9FBF-43C8-B35B-C96EEEF996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56478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889846D-D1B1-4FA7-8A7C-C08658FC4A10}" type="datetimeFigureOut">
              <a:rPr lang="en-US" smtClean="0"/>
              <a:t>6/28/2020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80B2951-9FBF-43C8-B35B-C96EEEF996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59617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89846D-D1B1-4FA7-8A7C-C08658FC4A10}" type="datetimeFigureOut">
              <a:rPr lang="en-US" smtClean="0"/>
              <a:t>6/28/2020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80B2951-9FBF-43C8-B35B-C96EEEF996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293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Lab 3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Linearization of Time Delay</a:t>
            </a:r>
          </a:p>
          <a:p>
            <a:r>
              <a:rPr lang="en-US" dirty="0">
                <a:cs typeface="Calibri"/>
              </a:rPr>
              <a:t>Root Locus</a:t>
            </a:r>
          </a:p>
        </p:txBody>
      </p:sp>
    </p:spTree>
    <p:extLst>
      <p:ext uri="{BB962C8B-B14F-4D97-AF65-F5344CB8AC3E}">
        <p14:creationId xmlns:p14="http://schemas.microsoft.com/office/powerpoint/2010/main" val="8936867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chemeClr val="tx1">
              <a:lumMod val="50000"/>
              <a:lumOff val="50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txBody>
          <a:bodyPr/>
          <a:lstStyle/>
          <a:p>
            <a:r>
              <a:rPr lang="en-US" dirty="0" err="1"/>
              <a:t>Prelab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id-ID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/>
                            </a:rPr>
                            <m:t>𝐾</m:t>
                          </m:r>
                        </m:e>
                        <m:sub>
                          <m:r>
                            <a:rPr lang="id-ID" b="0" i="1" smtClean="0">
                              <a:latin typeface="Cambria Math" panose="02040503050406030204" pitchFamily="18" charset="0"/>
                            </a:rPr>
                            <m:t>𝐷𝐶</m:t>
                          </m:r>
                        </m:sub>
                      </m:sSub>
                      <m:r>
                        <a:rPr lang="en-US" b="0" i="1" smtClean="0">
                          <a:latin typeface="Cambria Math"/>
                        </a:rPr>
                        <m:t>=1.</m:t>
                      </m:r>
                      <m:r>
                        <a:rPr lang="id-ID" b="0" i="1" smtClean="0">
                          <a:latin typeface="Cambria Math" panose="02040503050406030204" pitchFamily="18" charset="0"/>
                        </a:rPr>
                        <m:t>02</m:t>
                      </m:r>
                    </m:oMath>
                  </m:oMathPara>
                </a14:m>
                <a:endParaRPr lang="en-US" b="0" i="1" dirty="0">
                  <a:latin typeface="Cambria Math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id-ID" b="0" i="1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b="0" i="1" smtClean="0">
                        <a:latin typeface="Cambria Math"/>
                      </a:rPr>
                      <m:t>0</m:t>
                    </m:r>
                  </m:oMath>
                </a14:m>
                <a:r>
                  <a:rPr lang="en-US" b="0" i="1" dirty="0"/>
                  <a:t> </a:t>
                </a:r>
                <a:r>
                  <a:rPr lang="en-US" b="0" dirty="0"/>
                  <a:t>secs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𝜏</m:t>
                    </m:r>
                    <m:r>
                      <a:rPr lang="en-US" b="0" i="1" smtClean="0">
                        <a:latin typeface="Cambria Math"/>
                      </a:rPr>
                      <m:t>=</m:t>
                    </m:r>
                    <m:r>
                      <a:rPr lang="en-US" b="0" i="0" smtClean="0">
                        <a:latin typeface="Cambria Math"/>
                      </a:rPr>
                      <m:t>2</m:t>
                    </m:r>
                    <m:r>
                      <a:rPr lang="id-ID" b="0" i="0" smtClean="0">
                        <a:latin typeface="Cambria Math" panose="02040503050406030204" pitchFamily="18" charset="0"/>
                      </a:rPr>
                      <m:t>43</m:t>
                    </m:r>
                    <m:r>
                      <a:rPr lang="en-US" b="0" i="0" smtClean="0">
                        <a:latin typeface="Cambria Math"/>
                      </a:rPr>
                      <m:t>,</m:t>
                    </m:r>
                    <m:r>
                      <a:rPr lang="id-ID" b="0" i="0" smtClean="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r>
                  <a:rPr lang="en-US" b="0" i="1" dirty="0"/>
                  <a:t> </a:t>
                </a:r>
                <a:r>
                  <a:rPr lang="en-US" dirty="0"/>
                  <a:t>secs</a:t>
                </a:r>
                <a:endParaRPr lang="en-US" b="0" dirty="0"/>
              </a:p>
              <a:p>
                <a:endParaRPr lang="en-US" dirty="0"/>
              </a:p>
              <a:p>
                <a:r>
                  <a:rPr lang="en-US" dirty="0"/>
                  <a:t>Based on the parameters write down the model: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/>
                        </a:rPr>
                        <m:t>𝐺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/>
                            </a:rPr>
                            <m:t>𝑠</m:t>
                          </m:r>
                        </m:e>
                      </m:d>
                      <m:r>
                        <a:rPr lang="en-US" b="0" i="0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0" smtClean="0">
                              <a:latin typeface="Cambria Math"/>
                            </a:rPr>
                            <m:t>1.</m:t>
                          </m:r>
                          <m:r>
                            <a:rPr lang="id-ID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num>
                        <m:den>
                          <m:r>
                            <a:rPr lang="en-US" b="0" i="1" smtClean="0">
                              <a:latin typeface="Cambria Math"/>
                            </a:rPr>
                            <m:t>2</m:t>
                          </m:r>
                          <m:r>
                            <a:rPr lang="id-ID" b="0" i="1" smtClean="0">
                              <a:latin typeface="Cambria Math" panose="02040503050406030204" pitchFamily="18" charset="0"/>
                            </a:rPr>
                            <m:t>43</m:t>
                          </m:r>
                          <m:r>
                            <a:rPr lang="en-US" b="0" i="1" smtClean="0">
                              <a:latin typeface="Cambria Math"/>
                            </a:rPr>
                            <m:t>.</m:t>
                          </m:r>
                          <m:r>
                            <a:rPr lang="id-ID" b="0" i="1" smtClean="0">
                              <a:latin typeface="Cambria Math" panose="02040503050406030204" pitchFamily="18" charset="0"/>
                            </a:rPr>
                            <m:t>6</m:t>
                          </m:r>
                          <m:r>
                            <a:rPr lang="en-US" b="0" i="1" smtClean="0">
                              <a:latin typeface="Cambria Math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/>
                            </a:rPr>
                            <m:t>+1</m:t>
                          </m:r>
                        </m:den>
                      </m:f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/>
                            </a:rPr>
                            <m:t>𝑒</m:t>
                          </m:r>
                        </m:e>
                        <m:sup>
                          <m:r>
                            <a:rPr lang="en-US" b="0" i="1" smtClean="0">
                              <a:latin typeface="Cambria Math"/>
                            </a:rPr>
                            <m:t>−</m:t>
                          </m:r>
                          <m:r>
                            <a:rPr lang="id-ID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/>
                            </a:rPr>
                            <m:t>0</m:t>
                          </m:r>
                          <m:r>
                            <a:rPr lang="en-US" b="0" i="1" smtClean="0">
                              <a:latin typeface="Cambria Math"/>
                            </a:rPr>
                            <m:t>𝑠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134781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C00000"/>
          </a:solidFill>
        </p:spPr>
        <p:txBody>
          <a:bodyPr/>
          <a:lstStyle/>
          <a:p>
            <a:r>
              <a:rPr lang="en-US" dirty="0"/>
              <a:t>Activity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Let’s first exclude the time delay in our model, and draw the root locus:</a:t>
            </a:r>
          </a:p>
          <a:p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592" y="2708920"/>
            <a:ext cx="3220233" cy="3600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9960503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C00000"/>
          </a:solidFill>
        </p:spPr>
        <p:txBody>
          <a:bodyPr/>
          <a:lstStyle/>
          <a:p>
            <a:r>
              <a:rPr lang="en-US" dirty="0"/>
              <a:t>Activity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the closed loop system go unstable? Why?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3728" y="2636912"/>
            <a:ext cx="5286375" cy="39243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2884818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FFC000"/>
          </a:solidFill>
        </p:spPr>
        <p:txBody>
          <a:bodyPr/>
          <a:lstStyle/>
          <a:p>
            <a:r>
              <a:rPr lang="en-US" dirty="0"/>
              <a:t>Activity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Let’s now include the time delay in our model: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/>
                        </a:rPr>
                        <m:t>𝐺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/>
                            </a:rPr>
                            <m:t>𝑠</m:t>
                          </m:r>
                        </m:e>
                      </m:d>
                      <m:r>
                        <a:rPr lang="en-US" b="0" i="0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0" smtClean="0">
                              <a:latin typeface="Cambria Math"/>
                            </a:rPr>
                            <m:t>1.</m:t>
                          </m:r>
                          <m:r>
                            <a:rPr lang="id-ID" b="0" i="1" smtClean="0">
                              <a:latin typeface="Cambria Math" panose="02040503050406030204" pitchFamily="18" charset="0"/>
                            </a:rPr>
                            <m:t>01</m:t>
                          </m:r>
                        </m:num>
                        <m:den>
                          <m:r>
                            <a:rPr lang="en-US" b="0" i="1" smtClean="0">
                              <a:latin typeface="Cambria Math"/>
                            </a:rPr>
                            <m:t>2</m:t>
                          </m:r>
                          <m:r>
                            <a:rPr lang="id-ID" b="0" i="1" smtClean="0">
                              <a:latin typeface="Cambria Math" panose="02040503050406030204" pitchFamily="18" charset="0"/>
                            </a:rPr>
                            <m:t>43.6</m:t>
                          </m:r>
                          <m:r>
                            <a:rPr lang="en-US" b="0" i="1" smtClean="0">
                              <a:latin typeface="Cambria Math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/>
                            </a:rPr>
                            <m:t>+1</m:t>
                          </m:r>
                        </m:den>
                      </m:f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/>
                            </a:rPr>
                            <m:t>𝑒</m:t>
                          </m:r>
                        </m:e>
                        <m:sup>
                          <m:r>
                            <a:rPr lang="en-US" b="0" i="1" smtClean="0">
                              <a:latin typeface="Cambria Math"/>
                            </a:rPr>
                            <m:t>−</m:t>
                          </m:r>
                          <m:r>
                            <a:rPr lang="id-ID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  <m:r>
                            <a:rPr lang="en-US" b="0" i="1" smtClean="0">
                              <a:latin typeface="Cambria Math"/>
                            </a:rPr>
                            <m:t>0</m:t>
                          </m:r>
                          <m:r>
                            <a:rPr lang="en-US" b="0" i="1" smtClean="0">
                              <a:latin typeface="Cambria Math"/>
                            </a:rPr>
                            <m:t>𝑠</m:t>
                          </m:r>
                        </m:sup>
                      </m:sSup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However, we can not draw the root locus as MATLAB does not have such feature of drawing root locus of a nonlinear system.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04" t="-1752" r="-11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982333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FFC000"/>
          </a:solidFill>
        </p:spPr>
        <p:txBody>
          <a:bodyPr/>
          <a:lstStyle/>
          <a:p>
            <a:r>
              <a:rPr lang="en-US" dirty="0"/>
              <a:t>Activity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618856" cy="4525963"/>
          </a:xfrm>
        </p:spPr>
        <p:txBody>
          <a:bodyPr/>
          <a:lstStyle/>
          <a:p>
            <a:r>
              <a:rPr lang="en-US" dirty="0"/>
              <a:t>We will do a </a:t>
            </a:r>
            <a:r>
              <a:rPr lang="en-US" dirty="0" err="1"/>
              <a:t>Padé</a:t>
            </a:r>
            <a:r>
              <a:rPr lang="en-US" dirty="0"/>
              <a:t> approximation to generate a linear system that is quite close to our actual system. </a:t>
            </a:r>
          </a:p>
          <a:p>
            <a:endParaRPr lang="en-US" dirty="0"/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0A970F11-67F8-4FFB-A923-8A9BC459175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0154" y="1600199"/>
            <a:ext cx="3266646" cy="45259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5325356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FFC000"/>
          </a:solidFill>
        </p:spPr>
        <p:txBody>
          <a:bodyPr/>
          <a:lstStyle/>
          <a:p>
            <a:r>
              <a:rPr lang="en-US" dirty="0"/>
              <a:t>Activity 2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Now, we have a new system: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/>
                            </a:rPr>
                            <m:t>𝐺</m:t>
                          </m:r>
                        </m:e>
                      </m:acc>
                      <m:r>
                        <a:rPr lang="en-US" b="0" i="1" smtClean="0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/>
                            </a:rPr>
                            <m:t> − 0.</m:t>
                          </m:r>
                          <m:r>
                            <a:rPr lang="id-ID" b="0" i="1" smtClean="0">
                              <a:latin typeface="Cambria Math" panose="02040503050406030204" pitchFamily="18" charset="0"/>
                            </a:rPr>
                            <m:t>6 </m:t>
                          </m:r>
                          <m:r>
                            <a:rPr lang="en-US" b="0" i="1" smtClean="0">
                              <a:latin typeface="Cambria Math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/>
                            </a:rPr>
                            <m:t> + 0.12</m:t>
                          </m:r>
                        </m:num>
                        <m:den>
                          <m:r>
                            <a:rPr lang="en-US" b="0" i="1" smtClean="0">
                              <a:latin typeface="Cambria Math"/>
                            </a:rPr>
                            <m:t>2</m:t>
                          </m:r>
                          <m:r>
                            <a:rPr lang="id-ID" b="0" i="1" smtClean="0">
                              <a:latin typeface="Cambria Math" panose="02040503050406030204" pitchFamily="18" charset="0"/>
                            </a:rPr>
                            <m:t>43.6</m:t>
                          </m:r>
                          <m:r>
                            <a:rPr lang="en-US" b="0" i="1" smtClean="0">
                              <a:latin typeface="Cambria Math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/>
                                </a:rPr>
                                <m:t>3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/>
                            </a:rPr>
                            <m:t> +</m:t>
                          </m:r>
                          <m:r>
                            <a:rPr lang="id-ID" b="0" i="1" smtClean="0">
                              <a:latin typeface="Cambria Math" panose="02040503050406030204" pitchFamily="18" charset="0"/>
                            </a:rPr>
                            <m:t>147.2</m:t>
                          </m:r>
                          <m:r>
                            <a:rPr lang="en-US" b="0" i="1" smtClean="0">
                              <a:latin typeface="Cambria Math"/>
                            </a:rPr>
                            <m:t> 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/>
                                </a:rPr>
                                <m:t>2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/>
                            </a:rPr>
                            <m:t> +</m:t>
                          </m:r>
                          <m:r>
                            <a:rPr lang="id-ID" b="0" i="1" smtClean="0">
                              <a:latin typeface="Cambria Math" panose="02040503050406030204" pitchFamily="18" charset="0"/>
                            </a:rPr>
                            <m:t>29.83 </m:t>
                          </m:r>
                          <m:r>
                            <a:rPr lang="en-US" b="0" i="1" smtClean="0">
                              <a:latin typeface="Cambria Math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/>
                            </a:rPr>
                            <m:t> + 0.12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Therefore, now we can draw the root locus: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04" t="-17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251261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FFC000"/>
          </a:solidFill>
        </p:spPr>
        <p:txBody>
          <a:bodyPr/>
          <a:lstStyle/>
          <a:p>
            <a:r>
              <a:rPr lang="en-US" dirty="0"/>
              <a:t>Activity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the system go unstable? Why?</a:t>
            </a:r>
          </a:p>
        </p:txBody>
      </p:sp>
      <p:pic>
        <p:nvPicPr>
          <p:cNvPr id="4098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7400" y="2808075"/>
            <a:ext cx="4242792" cy="32544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4100" name="Picture 4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6006" y="2348880"/>
            <a:ext cx="2510064" cy="3630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7" name="Straight Arrow Connector 6"/>
          <p:cNvCxnSpPr/>
          <p:nvPr/>
        </p:nvCxnSpPr>
        <p:spPr>
          <a:xfrm flipH="1" flipV="1">
            <a:off x="5004048" y="3717032"/>
            <a:ext cx="504056" cy="214194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 flipH="1">
            <a:off x="5004048" y="4083626"/>
            <a:ext cx="504056" cy="1001558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/>
              <p:cNvSpPr txBox="1"/>
              <p:nvPr/>
            </p:nvSpPr>
            <p:spPr>
              <a:xfrm>
                <a:off x="5507101" y="3789040"/>
                <a:ext cx="151317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𝑗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𝜔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−</m:t>
                    </m:r>
                  </m:oMath>
                </a14:m>
                <a:r>
                  <a:rPr lang="en-US" dirty="0"/>
                  <a:t>crossings</a:t>
                </a:r>
              </a:p>
            </p:txBody>
          </p:sp>
        </mc:Choice>
        <mc:Fallback xmlns="">
          <p:sp>
            <p:nvSpPr>
              <p:cNvPr id="12" name="TextBox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07101" y="3789040"/>
                <a:ext cx="1513171" cy="369332"/>
              </a:xfrm>
              <a:prstGeom prst="rect">
                <a:avLst/>
              </a:prstGeom>
              <a:blipFill rotWithShape="1">
                <a:blip r:embed="rId4"/>
                <a:stretch>
                  <a:fillRect l="-803" t="-8333" r="-3213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/>
              <p:cNvSpPr txBox="1"/>
              <p:nvPr/>
            </p:nvSpPr>
            <p:spPr>
              <a:xfrm>
                <a:off x="6588224" y="5517232"/>
                <a:ext cx="1681158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Find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𝐾</m:t>
                    </m:r>
                  </m:oMath>
                </a14:m>
                <a:r>
                  <a:rPr lang="en-US" dirty="0"/>
                  <a:t> 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𝑗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𝜔</m:t>
                    </m:r>
                    <m:r>
                      <a:rPr lang="en-US" b="0" i="1" smtClean="0">
                        <a:latin typeface="Cambria Math"/>
                        <a:ea typeface="Cambria Math"/>
                      </a:rPr>
                      <m:t>−</m:t>
                    </m:r>
                  </m:oMath>
                </a14:m>
                <a:r>
                  <a:rPr lang="en-US" dirty="0"/>
                  <a:t>crossings!</a:t>
                </a:r>
              </a:p>
            </p:txBody>
          </p:sp>
        </mc:Choice>
        <mc:Fallback xmlns="">
          <p:sp>
            <p:nvSpPr>
              <p:cNvPr id="13" name="TextBox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8224" y="5517232"/>
                <a:ext cx="1681158" cy="646331"/>
              </a:xfrm>
              <a:prstGeom prst="rect">
                <a:avLst/>
              </a:prstGeom>
              <a:blipFill rotWithShape="1">
                <a:blip r:embed="rId5"/>
                <a:stretch>
                  <a:fillRect l="-3261" t="-4717" b="-141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593027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FFC000"/>
          </a:solidFill>
        </p:spPr>
        <p:txBody>
          <a:bodyPr/>
          <a:lstStyle/>
          <a:p>
            <a:r>
              <a:rPr lang="en-US" dirty="0"/>
              <a:t>Activity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Now, briefly summarize how time delay affects a system stability.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Simulate the </a:t>
                </a:r>
                <a:r>
                  <a:rPr lang="en-US" u="sng" dirty="0"/>
                  <a:t>closed loop system</a:t>
                </a:r>
                <a:r>
                  <a:rPr lang="en-US" dirty="0"/>
                  <a:t> using both </a:t>
                </a:r>
                <a:r>
                  <a:rPr lang="en-US" dirty="0" err="1"/>
                  <a:t>Pade</a:t>
                </a:r>
                <a:r>
                  <a:rPr lang="en-US" dirty="0"/>
                  <a:t> and TDTC model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/>
                      </a:rPr>
                      <m:t>𝐾</m:t>
                    </m:r>
                    <m:r>
                      <a:rPr lang="en-US" b="0" i="1" smtClean="0">
                        <a:latin typeface="Cambria Math"/>
                      </a:rPr>
                      <m:t>&gt;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/>
                          </a:rPr>
                          <m:t>𝐾</m:t>
                        </m:r>
                      </m:e>
                      <m:sub>
                        <m:r>
                          <a:rPr lang="en-US" b="0" i="1" smtClean="0">
                            <a:latin typeface="Cambria Math"/>
                          </a:rPr>
                          <m:t>𝑗</m:t>
                        </m:r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𝜔</m:t>
                        </m:r>
                        <m:r>
                          <a:rPr lang="en-US" b="0" i="1" smtClean="0">
                            <a:latin typeface="Cambria Math"/>
                            <a:ea typeface="Cambria Math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/>
                            <a:ea typeface="Cambria Math"/>
                          </a:rPr>
                          <m:t>crossings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Remember that root locus actually analyze the closed-loop system of a  given open-loop system.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1">
                <a:blip r:embed="rId2"/>
                <a:stretch>
                  <a:fillRect l="-1630" t="-1752" r="-27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376644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FFC000"/>
          </a:solidFill>
        </p:spPr>
        <p:txBody>
          <a:bodyPr/>
          <a:lstStyle/>
          <a:p>
            <a:r>
              <a:rPr lang="en-US" dirty="0"/>
              <a:t>Activity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Can you see how </a:t>
            </a:r>
            <a:r>
              <a:rPr lang="en-US" dirty="0" err="1"/>
              <a:t>Pade</a:t>
            </a:r>
            <a:r>
              <a:rPr lang="en-US" dirty="0"/>
              <a:t> actually linearize the nonlinear TDTC model?</a:t>
            </a:r>
          </a:p>
          <a:p>
            <a:pPr lvl="1"/>
            <a:r>
              <a:rPr lang="en-US" dirty="0"/>
              <a:t>Do you remember the Gibb’s phenomenon?</a:t>
            </a:r>
          </a:p>
        </p:txBody>
      </p:sp>
    </p:spTree>
    <p:extLst>
      <p:ext uri="{BB962C8B-B14F-4D97-AF65-F5344CB8AC3E}">
        <p14:creationId xmlns:p14="http://schemas.microsoft.com/office/powerpoint/2010/main" val="38519332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567333"/>
            <a:ext cx="8229600" cy="4525963"/>
          </a:xfrm>
        </p:spPr>
        <p:txBody>
          <a:bodyPr>
            <a:normAutofit/>
          </a:bodyPr>
          <a:lstStyle/>
          <a:p>
            <a:r>
              <a:rPr lang="en-US" sz="2800" dirty="0"/>
              <a:t>Let’s compare the model and the real system in real time: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solidFill>
            <a:srgbClr val="92D050"/>
          </a:solidFill>
        </p:spPr>
        <p:txBody>
          <a:bodyPr/>
          <a:lstStyle/>
          <a:p>
            <a:r>
              <a:rPr lang="en-US" dirty="0"/>
              <a:t>Activity 3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2502" y="2072005"/>
            <a:ext cx="6347048" cy="34627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6" name="Straight Arrow Connector 5"/>
          <p:cNvCxnSpPr/>
          <p:nvPr/>
        </p:nvCxnSpPr>
        <p:spPr>
          <a:xfrm flipV="1">
            <a:off x="3923928" y="4941169"/>
            <a:ext cx="648072" cy="288031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048481" y="4888468"/>
            <a:ext cx="9989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Padé</a:t>
            </a:r>
            <a:r>
              <a:rPr lang="en-US" dirty="0"/>
              <a:t>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3538" y="5714931"/>
            <a:ext cx="43924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 the transfer function block in Simulink,</a:t>
            </a:r>
          </a:p>
          <a:p>
            <a:r>
              <a:rPr lang="en-US" dirty="0"/>
              <a:t>Enter the coefficients for the numerator and </a:t>
            </a:r>
            <a:r>
              <a:rPr lang="en-US" dirty="0" err="1"/>
              <a:t>denumerator</a:t>
            </a:r>
            <a:r>
              <a:rPr lang="en-US" dirty="0"/>
              <a:t>:</a:t>
            </a:r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196" t="33023" r="23705" b="-1"/>
          <a:stretch/>
        </p:blipFill>
        <p:spPr bwMode="auto">
          <a:xfrm>
            <a:off x="5292080" y="5877272"/>
            <a:ext cx="763481" cy="6603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75138" y="3276600"/>
            <a:ext cx="592137" cy="304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9137211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solidFill>
            <a:srgbClr val="92D050"/>
          </a:solidFill>
        </p:spPr>
        <p:txBody>
          <a:bodyPr/>
          <a:lstStyle/>
          <a:p>
            <a:r>
              <a:rPr lang="en-US" dirty="0"/>
              <a:t>Activity 3</a:t>
            </a:r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" y="1618247"/>
            <a:ext cx="8229600" cy="44898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cxnSp>
        <p:nvCxnSpPr>
          <p:cNvPr id="5" name="Straight Arrow Connector 4"/>
          <p:cNvCxnSpPr/>
          <p:nvPr/>
        </p:nvCxnSpPr>
        <p:spPr>
          <a:xfrm flipV="1">
            <a:off x="2483768" y="5373216"/>
            <a:ext cx="1584176" cy="864096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1119423" y="6042260"/>
            <a:ext cx="12952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Padé</a:t>
            </a:r>
            <a:r>
              <a:rPr lang="en-US" dirty="0"/>
              <a:t> model</a:t>
            </a:r>
          </a:p>
        </p:txBody>
      </p:sp>
    </p:spTree>
    <p:extLst>
      <p:ext uri="{BB962C8B-B14F-4D97-AF65-F5344CB8AC3E}">
        <p14:creationId xmlns:p14="http://schemas.microsoft.com/office/powerpoint/2010/main" val="26907024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Find out the ambient temperature first.</a:t>
            </a:r>
          </a:p>
          <a:p>
            <a:r>
              <a:rPr lang="en-US" dirty="0"/>
              <a:t>You might need to reduce the sampling time to 10ms. Check if the overrun LED is on.</a:t>
            </a:r>
          </a:p>
          <a:p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solidFill>
            <a:srgbClr val="92D050"/>
          </a:solidFill>
        </p:spPr>
        <p:txBody>
          <a:bodyPr/>
          <a:lstStyle/>
          <a:p>
            <a:r>
              <a:rPr lang="en-US" dirty="0"/>
              <a:t>Activity 3</a:t>
            </a:r>
          </a:p>
        </p:txBody>
      </p:sp>
      <p:pic>
        <p:nvPicPr>
          <p:cNvPr id="3074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7784" y="3386549"/>
            <a:ext cx="4404370" cy="32828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3609925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1690</TotalTime>
  <Words>307</Words>
  <Application>Microsoft Office PowerPoint</Application>
  <PresentationFormat>On-screen Show (4:3)</PresentationFormat>
  <Paragraphs>49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Cambria Math</vt:lpstr>
      <vt:lpstr>Office Theme</vt:lpstr>
      <vt:lpstr>Lab 3</vt:lpstr>
      <vt:lpstr>Prelab</vt:lpstr>
      <vt:lpstr>Activity 1</vt:lpstr>
      <vt:lpstr>Activity 1</vt:lpstr>
      <vt:lpstr>Activity 2</vt:lpstr>
      <vt:lpstr>Activity 2</vt:lpstr>
      <vt:lpstr>Activity 2</vt:lpstr>
      <vt:lpstr>Activity 2</vt:lpstr>
      <vt:lpstr>Activity 2</vt:lpstr>
      <vt:lpstr>Activity 2</vt:lpstr>
      <vt:lpstr>Activity 3</vt:lpstr>
      <vt:lpstr>Activity 3</vt:lpstr>
      <vt:lpstr>Activity 3</vt:lpstr>
    </vt:vector>
  </TitlesOfParts>
  <Company>diakov.net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3</dc:title>
  <dc:creator>RePack by Diakov</dc:creator>
  <cp:lastModifiedBy>Lenovo</cp:lastModifiedBy>
  <cp:revision>44</cp:revision>
  <dcterms:created xsi:type="dcterms:W3CDTF">2019-10-27T06:41:23Z</dcterms:created>
  <dcterms:modified xsi:type="dcterms:W3CDTF">2020-06-28T18:42:38Z</dcterms:modified>
</cp:coreProperties>
</file>
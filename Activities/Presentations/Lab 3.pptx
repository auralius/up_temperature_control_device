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9" r:id="rId11"/>
    <p:sldId id="267" r:id="rId12"/>
    <p:sldId id="266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2DCEE4-2458-4E44-81F8-714F0B9AB005}" v="52" dt="2020-06-01T08:24:56.5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27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ralius Manurung" userId="/cByStHXhlp8UySsVrptnwXk+dA77q+o7bCt7JiD7r0=" providerId="None" clId="Web-{802DCEE4-2458-4E44-81F8-714F0B9AB005}"/>
    <pc:docChg chg="modSld">
      <pc:chgData name="Auralius Manurung" userId="/cByStHXhlp8UySsVrptnwXk+dA77q+o7bCt7JiD7r0=" providerId="None" clId="Web-{802DCEE4-2458-4E44-81F8-714F0B9AB005}" dt="2020-06-01T08:24:54.006" v="49" actId="20577"/>
      <pc:docMkLst>
        <pc:docMk/>
      </pc:docMkLst>
      <pc:sldChg chg="modSp">
        <pc:chgData name="Auralius Manurung" userId="/cByStHXhlp8UySsVrptnwXk+dA77q+o7bCt7JiD7r0=" providerId="None" clId="Web-{802DCEE4-2458-4E44-81F8-714F0B9AB005}" dt="2020-06-01T08:24:54.006" v="48" actId="20577"/>
        <pc:sldMkLst>
          <pc:docMk/>
          <pc:sldMk cId="893686744" sldId="256"/>
        </pc:sldMkLst>
        <pc:spChg chg="mod">
          <ac:chgData name="Auralius Manurung" userId="/cByStHXhlp8UySsVrptnwXk+dA77q+o7bCt7JiD7r0=" providerId="None" clId="Web-{802DCEE4-2458-4E44-81F8-714F0B9AB005}" dt="2020-06-01T08:24:22.850" v="0" actId="20577"/>
          <ac:spMkLst>
            <pc:docMk/>
            <pc:sldMk cId="893686744" sldId="256"/>
            <ac:spMk id="2" creationId="{00000000-0000-0000-0000-000000000000}"/>
          </ac:spMkLst>
        </pc:spChg>
        <pc:spChg chg="mod">
          <ac:chgData name="Auralius Manurung" userId="/cByStHXhlp8UySsVrptnwXk+dA77q+o7bCt7JiD7r0=" providerId="None" clId="Web-{802DCEE4-2458-4E44-81F8-714F0B9AB005}" dt="2020-06-01T08:24:54.006" v="48" actId="20577"/>
          <ac:spMkLst>
            <pc:docMk/>
            <pc:sldMk cId="893686744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846D-D1B1-4FA7-8A7C-C08658FC4A10}" type="datetimeFigureOut">
              <a:rPr lang="en-US" smtClean="0"/>
              <a:t>02/06/2020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2951-9FBF-43C8-B35B-C96EEEF9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73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846D-D1B1-4FA7-8A7C-C08658FC4A10}" type="datetimeFigureOut">
              <a:rPr lang="en-US" smtClean="0"/>
              <a:t>02/06/2020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2951-9FBF-43C8-B35B-C96EEEF9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51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846D-D1B1-4FA7-8A7C-C08658FC4A10}" type="datetimeFigureOut">
              <a:rPr lang="en-US" smtClean="0"/>
              <a:t>02/06/2020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2951-9FBF-43C8-B35B-C96EEEF9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446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846D-D1B1-4FA7-8A7C-C08658FC4A10}" type="datetimeFigureOut">
              <a:rPr lang="en-US" smtClean="0"/>
              <a:t>02/06/2020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2951-9FBF-43C8-B35B-C96EEEF9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7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846D-D1B1-4FA7-8A7C-C08658FC4A10}" type="datetimeFigureOut">
              <a:rPr lang="en-US" smtClean="0"/>
              <a:t>02/06/2020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2951-9FBF-43C8-B35B-C96EEEF9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87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846D-D1B1-4FA7-8A7C-C08658FC4A10}" type="datetimeFigureOut">
              <a:rPr lang="en-US" smtClean="0"/>
              <a:t>02/06/2020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2951-9FBF-43C8-B35B-C96EEEF9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3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846D-D1B1-4FA7-8A7C-C08658FC4A10}" type="datetimeFigureOut">
              <a:rPr lang="en-US" smtClean="0"/>
              <a:t>02/06/2020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2951-9FBF-43C8-B35B-C96EEEF9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51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846D-D1B1-4FA7-8A7C-C08658FC4A10}" type="datetimeFigureOut">
              <a:rPr lang="en-US" smtClean="0"/>
              <a:t>02/06/2020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2951-9FBF-43C8-B35B-C96EEEF9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901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846D-D1B1-4FA7-8A7C-C08658FC4A10}" type="datetimeFigureOut">
              <a:rPr lang="en-US" smtClean="0"/>
              <a:t>02/06/2020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2951-9FBF-43C8-B35B-C96EEEF9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846D-D1B1-4FA7-8A7C-C08658FC4A10}" type="datetimeFigureOut">
              <a:rPr lang="en-US" smtClean="0"/>
              <a:t>02/06/2020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2951-9FBF-43C8-B35B-C96EEEF9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47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9846D-D1B1-4FA7-8A7C-C08658FC4A10}" type="datetimeFigureOut">
              <a:rPr lang="en-US" smtClean="0"/>
              <a:t>02/06/2020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2951-9FBF-43C8-B35B-C96EEEF9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961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9846D-D1B1-4FA7-8A7C-C08658FC4A10}" type="datetimeFigureOut">
              <a:rPr lang="en-US" smtClean="0"/>
              <a:t>02/06/2020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0B2951-9FBF-43C8-B35B-C96EEEF9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93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Linearization of Time Delay</a:t>
            </a:r>
          </a:p>
          <a:p>
            <a:r>
              <a:rPr lang="en-US" dirty="0">
                <a:cs typeface="Calibri"/>
              </a:rPr>
              <a:t>Root Locus</a:t>
            </a:r>
          </a:p>
        </p:txBody>
      </p:sp>
    </p:spTree>
    <p:extLst>
      <p:ext uri="{BB962C8B-B14F-4D97-AF65-F5344CB8AC3E}">
        <p14:creationId xmlns:p14="http://schemas.microsoft.com/office/powerpoint/2010/main" val="893686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/>
          <a:p>
            <a:r>
              <a:rPr lang="en-US" dirty="0" err="1"/>
              <a:t>Prelab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𝐾</m:t>
                      </m:r>
                      <m:r>
                        <a:rPr lang="en-US" b="0" i="1" smtClean="0">
                          <a:latin typeface="Cambria Math"/>
                        </a:rPr>
                        <m:t>=1.38</m:t>
                      </m:r>
                    </m:oMath>
                  </m:oMathPara>
                </a14:m>
                <a:endParaRPr lang="en-US" b="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=20</m:t>
                    </m:r>
                  </m:oMath>
                </a14:m>
                <a:r>
                  <a:rPr lang="en-US" b="0" i="1" dirty="0"/>
                  <a:t> </a:t>
                </a:r>
                <a:r>
                  <a:rPr lang="en-US" b="0" dirty="0"/>
                  <a:t>secs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𝜏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0" smtClean="0">
                        <a:latin typeface="Cambria Math"/>
                      </a:rPr>
                      <m:t>212,2</m:t>
                    </m:r>
                  </m:oMath>
                </a14:m>
                <a:r>
                  <a:rPr lang="en-US" b="0" i="1" dirty="0"/>
                  <a:t> </a:t>
                </a:r>
                <a:r>
                  <a:rPr lang="en-US" dirty="0"/>
                  <a:t>secs</a:t>
                </a:r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Based on the parameters write down the model: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n-US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latin typeface="Cambria Math"/>
                            </a:rPr>
                            <m:t>1.38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212.2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+1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−20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347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/>
          <a:lstStyle/>
          <a:p>
            <a:r>
              <a:rPr lang="en-US" dirty="0"/>
              <a:t>Activity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first exclude the time delay in our model, and draw the root locus: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708920"/>
            <a:ext cx="3220233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6050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/>
          <a:lstStyle/>
          <a:p>
            <a:r>
              <a:rPr lang="en-US" dirty="0"/>
              <a:t>Activity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the </a:t>
            </a:r>
            <a:r>
              <a:rPr lang="en-US" dirty="0" smtClean="0"/>
              <a:t>closed loop system </a:t>
            </a:r>
            <a:r>
              <a:rPr lang="en-US" dirty="0"/>
              <a:t>go unstable? Why?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636912"/>
            <a:ext cx="5286375" cy="392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848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dirty="0"/>
              <a:t>Activity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Let’s now include the time delay in our model: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n-US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latin typeface="Cambria Math"/>
                            </a:rPr>
                            <m:t>1.38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212.2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+1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−20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However, we can not draw the root locus as MATLAB does not have such feature of drawing root locus of a nonlinear system.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1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823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dirty="0"/>
              <a:t>Activity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do a </a:t>
            </a:r>
            <a:r>
              <a:rPr lang="en-US" dirty="0" err="1"/>
              <a:t>Padé</a:t>
            </a:r>
            <a:r>
              <a:rPr lang="en-US" dirty="0"/>
              <a:t> approximation to generate a linear system that is quite close to our actual system. 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384862"/>
            <a:ext cx="4687721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2535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dirty="0"/>
              <a:t>Activity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Now, we have a new system: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𝐺</m:t>
                          </m:r>
                        </m:e>
                      </m:acc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1.38 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/>
                            </a:rPr>
                            <m:t> − 0.414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+ 0.0414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212.2 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/>
                            </a:rPr>
                            <m:t> + 64.66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/>
                            </a:rPr>
                            <m:t> + 6.666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+ 0.03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Therefore, now we can draw the root locus: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512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dirty="0"/>
              <a:t>Activity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the system go unstable? Why?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808075"/>
            <a:ext cx="4242792" cy="3254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6006" y="2348880"/>
            <a:ext cx="2510064" cy="363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flipH="1" flipV="1">
            <a:off x="5004048" y="3717032"/>
            <a:ext cx="504056" cy="2141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5004048" y="4083626"/>
            <a:ext cx="504056" cy="10015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507101" y="3789040"/>
                <a:ext cx="15131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𝑗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𝜔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en-US" dirty="0" smtClean="0"/>
                  <a:t>crossings</a:t>
                </a:r>
                <a:endParaRPr lang="en-US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101" y="3789040"/>
                <a:ext cx="1513171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803" t="-8333" r="-321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6588224" y="5517232"/>
                <a:ext cx="16811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Find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𝐾</m:t>
                    </m:r>
                  </m:oMath>
                </a14:m>
                <a:r>
                  <a:rPr lang="en-US" dirty="0" smtClean="0"/>
                  <a:t>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𝑗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𝜔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en-US" dirty="0" smtClean="0"/>
                  <a:t>crossings!</a:t>
                </a:r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5517232"/>
                <a:ext cx="1681158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3261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9302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dirty="0"/>
              <a:t>Activity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Now, briefly summarize how time delay affects a system stability.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r>
                  <a:rPr lang="en-US" dirty="0" smtClean="0"/>
                  <a:t>Simulate the </a:t>
                </a:r>
                <a:r>
                  <a:rPr lang="en-US" u="sng" dirty="0" smtClean="0"/>
                  <a:t>closed loop system</a:t>
                </a:r>
                <a:r>
                  <a:rPr lang="en-US" dirty="0" smtClean="0"/>
                  <a:t> using both </a:t>
                </a:r>
                <a:r>
                  <a:rPr lang="en-US" dirty="0" err="1" smtClean="0"/>
                  <a:t>Pade</a:t>
                </a:r>
                <a:r>
                  <a:rPr lang="en-US" dirty="0" smtClean="0"/>
                  <a:t> and TDTC model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𝐾</m:t>
                    </m:r>
                    <m:r>
                      <a:rPr lang="en-US" b="0" i="1" smtClean="0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𝑗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𝜔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  <a:ea typeface="Cambria Math"/>
                          </a:rPr>
                          <m:t>crossings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Remember that root locus actually analyze the closed-loop system of a  given open-loop system.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2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664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dirty="0"/>
              <a:t>Activity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Can you see how </a:t>
            </a:r>
            <a:r>
              <a:rPr lang="en-US" dirty="0" err="1" smtClean="0"/>
              <a:t>Pade</a:t>
            </a:r>
            <a:r>
              <a:rPr lang="en-US" dirty="0" smtClean="0"/>
              <a:t> actually linearize the nonlinear TDTC model?</a:t>
            </a:r>
          </a:p>
          <a:p>
            <a:pPr lvl="1"/>
            <a:r>
              <a:rPr lang="en-US" dirty="0" smtClean="0"/>
              <a:t>Do you reme</a:t>
            </a:r>
            <a:r>
              <a:rPr lang="en-US" dirty="0" smtClean="0"/>
              <a:t>mber the Gibb’s phenomenon?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933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67333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Let’s compare the model and the real system in real time: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solidFill>
            <a:srgbClr val="92D050"/>
          </a:solidFill>
        </p:spPr>
        <p:txBody>
          <a:bodyPr/>
          <a:lstStyle/>
          <a:p>
            <a:r>
              <a:rPr lang="en-US" dirty="0"/>
              <a:t>Activity 3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502" y="2072005"/>
            <a:ext cx="6347048" cy="3462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V="1">
            <a:off x="3923928" y="4941169"/>
            <a:ext cx="648072" cy="2880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48481" y="4888468"/>
            <a:ext cx="998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Padé</a:t>
            </a:r>
            <a:r>
              <a:rPr lang="en-US" dirty="0"/>
              <a:t>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538" y="5714931"/>
            <a:ext cx="4392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the transfer function block in Simulink,</a:t>
            </a:r>
          </a:p>
          <a:p>
            <a:r>
              <a:rPr lang="en-US" dirty="0"/>
              <a:t>Enter the coefficients for the numerator and </a:t>
            </a:r>
            <a:r>
              <a:rPr lang="en-US" dirty="0" err="1"/>
              <a:t>denumerator</a:t>
            </a:r>
            <a:r>
              <a:rPr lang="en-US" dirty="0"/>
              <a:t>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96" t="33023" r="23705" b="-1"/>
          <a:stretch/>
        </p:blipFill>
        <p:spPr bwMode="auto">
          <a:xfrm>
            <a:off x="5292080" y="5877272"/>
            <a:ext cx="763481" cy="660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138" y="3276600"/>
            <a:ext cx="5921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3721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</p:spPr>
        <p:txBody>
          <a:bodyPr/>
          <a:lstStyle/>
          <a:p>
            <a:r>
              <a:rPr lang="en-US" dirty="0"/>
              <a:t>Activity 3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18247"/>
            <a:ext cx="8229600" cy="4489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V="1">
            <a:off x="2483768" y="5373216"/>
            <a:ext cx="1584176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9423" y="6042260"/>
            <a:ext cx="1295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Padé</a:t>
            </a:r>
            <a:r>
              <a:rPr lang="en-US" dirty="0"/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269070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out the ambient temperature first.</a:t>
            </a:r>
          </a:p>
          <a:p>
            <a:r>
              <a:rPr lang="en-US" dirty="0"/>
              <a:t>You might </a:t>
            </a:r>
            <a:r>
              <a:rPr lang="en-US" dirty="0" smtClean="0"/>
              <a:t>need</a:t>
            </a:r>
            <a:r>
              <a:rPr lang="en-US" dirty="0" smtClean="0"/>
              <a:t> </a:t>
            </a:r>
            <a:r>
              <a:rPr lang="en-US" dirty="0"/>
              <a:t>to reduce the sampling time to 10ms</a:t>
            </a:r>
            <a:r>
              <a:rPr lang="en-US" dirty="0" smtClean="0"/>
              <a:t>. Check if the overrun LED is on.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solidFill>
            <a:srgbClr val="92D050"/>
          </a:solidFill>
        </p:spPr>
        <p:txBody>
          <a:bodyPr/>
          <a:lstStyle/>
          <a:p>
            <a:r>
              <a:rPr lang="en-US" dirty="0"/>
              <a:t>Activity 3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3386549"/>
            <a:ext cx="4404370" cy="3282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0992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1121</TotalTime>
  <Words>365</Words>
  <Application>Microsoft Office PowerPoint</Application>
  <PresentationFormat>On-screen Show (4:3)</PresentationFormat>
  <Paragraphs>49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Lab 3</vt:lpstr>
      <vt:lpstr>Prelab</vt:lpstr>
      <vt:lpstr>Activity 1</vt:lpstr>
      <vt:lpstr>Activity 1</vt:lpstr>
      <vt:lpstr>Activity 2</vt:lpstr>
      <vt:lpstr>Activity 2</vt:lpstr>
      <vt:lpstr>Activity 2</vt:lpstr>
      <vt:lpstr>Activity 2</vt:lpstr>
      <vt:lpstr>Activity 2</vt:lpstr>
      <vt:lpstr>Activity 2</vt:lpstr>
      <vt:lpstr>Activity 3</vt:lpstr>
      <vt:lpstr>Activity 3</vt:lpstr>
      <vt:lpstr>Activity 3</vt:lpstr>
    </vt:vector>
  </TitlesOfParts>
  <Company>diakov.net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3</dc:title>
  <dc:creator>RePack by Diakov</dc:creator>
  <cp:lastModifiedBy>RePack by Diakov</cp:lastModifiedBy>
  <cp:revision>40</cp:revision>
  <dcterms:created xsi:type="dcterms:W3CDTF">2019-10-27T06:41:23Z</dcterms:created>
  <dcterms:modified xsi:type="dcterms:W3CDTF">2020-06-02T14:58:38Z</dcterms:modified>
</cp:coreProperties>
</file>
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64" r:id="rId5"/>
    <p:sldId id="257" r:id="rId6"/>
    <p:sldId id="267" r:id="rId7"/>
    <p:sldId id="259" r:id="rId8"/>
    <p:sldId id="265" r:id="rId9"/>
    <p:sldId id="266" r:id="rId10"/>
    <p:sldId id="260" r:id="rId11"/>
    <p:sldId id="268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272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978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59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337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811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63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21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254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766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65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151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686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692351-DC79-477B-9F1A-5335BAFBA9C2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1FE430-8264-484C-88BC-58E3440C83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19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Universitas</a:t>
            </a:r>
            <a:r>
              <a:rPr lang="en-US" dirty="0" smtClean="0"/>
              <a:t> </a:t>
            </a:r>
            <a:r>
              <a:rPr lang="en-US" dirty="0" err="1" smtClean="0"/>
              <a:t>Pertamina’s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Temperature Control Lab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V2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58544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Features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6008" y="273050"/>
            <a:ext cx="4389834" cy="5853113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 dirty="0" smtClean="0"/>
              <a:t>Very compact in size</a:t>
            </a:r>
          </a:p>
          <a:p>
            <a:pPr marL="285750" indent="-285750">
              <a:buFontTx/>
              <a:buChar char="-"/>
            </a:pPr>
            <a:r>
              <a:rPr lang="en-US" dirty="0" smtClean="0"/>
              <a:t>Inexpensive</a:t>
            </a:r>
            <a:endParaRPr lang="en-US" dirty="0" smtClean="0"/>
          </a:p>
          <a:p>
            <a:pPr marL="285750" indent="-285750">
              <a:buFontTx/>
              <a:buChar char="-"/>
            </a:pPr>
            <a:r>
              <a:rPr lang="en-US" dirty="0" smtClean="0"/>
              <a:t>Two heaters </a:t>
            </a:r>
            <a:r>
              <a:rPr lang="en-US" dirty="0" smtClean="0"/>
              <a:t>and two temperature sensors</a:t>
            </a:r>
          </a:p>
          <a:p>
            <a:pPr marL="285750" indent="-285750">
              <a:buFontTx/>
              <a:buChar char="-"/>
            </a:pPr>
            <a:r>
              <a:rPr lang="en-US" dirty="0"/>
              <a:t>Excellent linearity at steady state condition when the temperature is below 120 </a:t>
            </a:r>
            <a:r>
              <a:rPr lang="en-US" dirty="0" err="1"/>
              <a:t>degress</a:t>
            </a:r>
            <a:r>
              <a:rPr lang="en-US" dirty="0"/>
              <a:t> of </a:t>
            </a:r>
            <a:r>
              <a:rPr lang="en-US" dirty="0" err="1"/>
              <a:t>Celcius</a:t>
            </a:r>
            <a:r>
              <a:rPr lang="en-US" dirty="0"/>
              <a:t>.</a:t>
            </a:r>
            <a:r>
              <a:rPr lang="en-US" dirty="0"/>
              <a:t> </a:t>
            </a:r>
            <a:endParaRPr lang="en-US" dirty="0" smtClean="0"/>
          </a:p>
          <a:p>
            <a:pPr marL="285750" indent="-285750">
              <a:buFontTx/>
              <a:buChar char="-"/>
            </a:pPr>
            <a:r>
              <a:rPr lang="en-US" dirty="0"/>
              <a:t>Each heater can be heated to about 140 degrees of </a:t>
            </a:r>
            <a:r>
              <a:rPr lang="en-US" dirty="0" err="1"/>
              <a:t>Celcius</a:t>
            </a:r>
            <a:r>
              <a:rPr lang="en-US" dirty="0"/>
              <a:t>.</a:t>
            </a:r>
            <a:r>
              <a:rPr lang="en-US" dirty="0"/>
              <a:t> 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577293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Step response Experiment</a:t>
            </a:r>
            <a:endParaRPr lang="en-US" dirty="0"/>
          </a:p>
        </p:txBody>
      </p:sp>
      <p:pic>
        <p:nvPicPr>
          <p:cNvPr id="6" name="Content Placeholder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2034">
            <a:off x="5887191" y="1280955"/>
            <a:ext cx="1784339" cy="237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847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Apply an input of 50%.</a:t>
            </a:r>
          </a:p>
          <a:p>
            <a:r>
              <a:rPr lang="en-US" dirty="0" smtClean="0"/>
              <a:t>Run the Simulink, record the time, the input and the output.</a:t>
            </a:r>
          </a:p>
          <a:p>
            <a:r>
              <a:rPr lang="en-US" dirty="0" smtClean="0"/>
              <a:t>Run for at least for 1300 seconds.</a:t>
            </a:r>
          </a:p>
          <a:p>
            <a:r>
              <a:rPr lang="en-US" dirty="0" smtClean="0"/>
              <a:t>Here, it is fine to reduce the sampling rate to 100 Hz.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7510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50% of Input PWM</a:t>
            </a:r>
            <a:endParaRPr lang="en-US" dirty="0"/>
          </a:p>
        </p:txBody>
      </p:sp>
      <p:pic>
        <p:nvPicPr>
          <p:cNvPr id="2051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707810"/>
            <a:ext cx="8229600" cy="43107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10111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Temperature offset has been removed</a:t>
            </a:r>
            <a:endParaRPr lang="en-US" dirty="0"/>
          </a:p>
        </p:txBody>
      </p:sp>
      <p:pic>
        <p:nvPicPr>
          <p:cNvPr id="5122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671082"/>
            <a:ext cx="8229600" cy="43841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000658" y="1700808"/>
                <a:ext cx="523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𝑠𝑠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658" y="1700808"/>
                <a:ext cx="523670" cy="369332"/>
              </a:xfrm>
              <a:prstGeom prst="rect">
                <a:avLst/>
              </a:prstGeom>
              <a:blipFill rotWithShape="1">
                <a:blip r:embed="rId3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3068960"/>
            <a:ext cx="2362200" cy="227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" name="Straight Arrow Connector 5"/>
          <p:cNvCxnSpPr/>
          <p:nvPr/>
        </p:nvCxnSpPr>
        <p:spPr>
          <a:xfrm flipH="1" flipV="1">
            <a:off x="7816857" y="5085184"/>
            <a:ext cx="288032" cy="85899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5499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191" y="1600200"/>
            <a:ext cx="8191618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 smtClean="0"/>
                  <a:t>Zoomed-in around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𝑡</m:t>
                    </m:r>
                    <m:r>
                      <a:rPr lang="en-US" b="0" i="1" smtClean="0">
                        <a:latin typeface="Cambria Math"/>
                      </a:rPr>
                      <m:t>=0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1">
                <a:blip r:embed="rId3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V="1">
            <a:off x="999863" y="5877272"/>
            <a:ext cx="0" cy="36004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23528" y="6165304"/>
                <a:ext cx="20739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Input starts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𝑡</m:t>
                    </m:r>
                    <m:r>
                      <a:rPr lang="en-US" b="0" i="1" smtClean="0">
                        <a:latin typeface="Cambria Math"/>
                      </a:rPr>
                      <m:t>=0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6165304"/>
                <a:ext cx="2073966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2353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/>
          <p:cNvCxnSpPr/>
          <p:nvPr/>
        </p:nvCxnSpPr>
        <p:spPr>
          <a:xfrm>
            <a:off x="994777" y="4149080"/>
            <a:ext cx="2370956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230789" y="4339427"/>
            <a:ext cx="1202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Time delay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2433747" y="4339427"/>
                <a:ext cx="9319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/>
                          <a:ea typeface="Cambria Math"/>
                        </a:rPr>
                        <m:t>𝜃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=10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747" y="4339427"/>
                <a:ext cx="931986" cy="369332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323528" y="4708759"/>
                <a:ext cx="4677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4708759"/>
                <a:ext cx="467756" cy="369332"/>
              </a:xfrm>
              <a:prstGeom prst="rect">
                <a:avLst/>
              </a:prstGeom>
              <a:blipFill rotWithShape="1">
                <a:blip r:embed="rId6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3027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TDTC </a:t>
            </a:r>
            <a:r>
              <a:rPr lang="en-US" dirty="0"/>
              <a:t>m</a:t>
            </a:r>
            <a:r>
              <a:rPr lang="en-US" dirty="0" smtClean="0"/>
              <a:t>odel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𝑠𝑠</m:t>
                          </m:r>
                        </m:sub>
                      </m:sSub>
                      <m:f>
                        <m:f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𝑠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𝜏</m:t>
                          </m:r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b="0" dirty="0" smtClean="0"/>
              </a:p>
              <a:p>
                <a:pPr marL="0" indent="0">
                  <a:buNone/>
                </a:pPr>
                <a:endParaRPr lang="en-US" dirty="0" smtClean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8903" y="2996952"/>
            <a:ext cx="5305425" cy="301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08116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Find all the parameters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83568" y="2204864"/>
                <a:ext cx="4320480" cy="305720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𝑠𝑠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b="0" i="1" smtClean="0">
                          <a:latin typeface="Cambria Math"/>
                        </a:rPr>
                        <m:t>51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  <a:ea typeface="Cambria Math"/>
                        </a:rPr>
                        <m:t>𝜃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=10</m:t>
                      </m:r>
                    </m:oMath>
                  </m:oMathPara>
                </a14:m>
                <a:endParaRPr lang="en-US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63.2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b="0" i="1" smtClean="0">
                          <a:latin typeface="Cambria Math"/>
                        </a:rPr>
                        <m:t>63.2%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i="1">
                          <a:latin typeface="Cambria Math"/>
                        </a:rPr>
                        <m:t>51</m:t>
                      </m:r>
                      <m:r>
                        <a:rPr lang="en-US" b="0" i="1" smtClean="0">
                          <a:latin typeface="Cambria Math"/>
                        </a:rPr>
                        <m:t>=32.23</m:t>
                      </m:r>
                    </m:oMath>
                  </m:oMathPara>
                </a14:m>
                <a:endParaRPr lang="en-US" b="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63.2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=243.6</m:t>
                      </m:r>
                    </m:oMath>
                  </m:oMathPara>
                </a14:m>
                <a:endParaRPr lang="en-US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𝑠𝑠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/>
                            </a:rPr>
                            <m:t>51</m:t>
                          </m:r>
                        </m:num>
                        <m:den>
                          <m:r>
                            <a:rPr lang="en-US" b="0" i="1" smtClean="0">
                              <a:latin typeface="Cambria Math"/>
                            </a:rPr>
                            <m:t>50</m:t>
                          </m:r>
                        </m:den>
                      </m:f>
                      <m:r>
                        <a:rPr lang="en-US" b="0" i="1" smtClean="0">
                          <a:latin typeface="Cambria Math"/>
                        </a:rPr>
                        <m:t>=1.02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 smtClean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3568" y="2204864"/>
                <a:ext cx="4320480" cy="3057203"/>
              </a:xfr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1412776"/>
            <a:ext cx="2986150" cy="49685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5" name="Straight Connector 4"/>
          <p:cNvCxnSpPr/>
          <p:nvPr/>
        </p:nvCxnSpPr>
        <p:spPr>
          <a:xfrm>
            <a:off x="6931848" y="3284984"/>
            <a:ext cx="0" cy="2160240"/>
          </a:xfrm>
          <a:prstGeom prst="line">
            <a:avLst/>
          </a:prstGeom>
          <a:ln w="1905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6228184" y="5363924"/>
                <a:ext cx="3483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/>
                          <a:ea typeface="Cambria Math"/>
                        </a:rPr>
                        <m:t>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8184" y="5363924"/>
                <a:ext cx="348300" cy="369332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>
            <a:off x="5796136" y="5445224"/>
            <a:ext cx="1135712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264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</a:t>
            </a:r>
            <a:endParaRPr lang="en-US" dirty="0"/>
          </a:p>
        </p:txBody>
      </p:sp>
      <p:pic>
        <p:nvPicPr>
          <p:cNvPr id="717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530" y="1600200"/>
            <a:ext cx="495294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16557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Pade</a:t>
            </a:r>
            <a:r>
              <a:rPr lang="en-US" dirty="0" smtClean="0"/>
              <a:t> Approximation of the Time Delay</a:t>
            </a:r>
            <a:endParaRPr lang="en-US" dirty="0"/>
          </a:p>
        </p:txBody>
      </p:sp>
      <p:pic>
        <p:nvPicPr>
          <p:cNvPr id="7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8677" y="1600200"/>
            <a:ext cx="3266646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88536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</TotalTime>
  <Words>189</Words>
  <Application>Microsoft Office PowerPoint</Application>
  <PresentationFormat>On-screen Show (4:3)</PresentationFormat>
  <Paragraphs>32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Universitas Pertamina’s Temperature Control Lab</vt:lpstr>
      <vt:lpstr>Features</vt:lpstr>
      <vt:lpstr>Step response Experiment</vt:lpstr>
      <vt:lpstr>PowerPoint Presentation</vt:lpstr>
      <vt:lpstr>50% of Input PWM</vt:lpstr>
      <vt:lpstr>Temperature offset has been removed</vt:lpstr>
      <vt:lpstr>Zoomed-in around t=0</vt:lpstr>
      <vt:lpstr>The TDTC model</vt:lpstr>
      <vt:lpstr>Find all the parameters</vt:lpstr>
      <vt:lpstr>Results</vt:lpstr>
      <vt:lpstr>Pade Approximation of the Time Delay</vt:lpstr>
    </vt:vector>
  </TitlesOfParts>
  <Company>diakov.net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RePack by Diakov</dc:creator>
  <cp:lastModifiedBy>RePack by Diakov</cp:lastModifiedBy>
  <cp:revision>25</cp:revision>
  <dcterms:created xsi:type="dcterms:W3CDTF">2019-10-27T08:26:17Z</dcterms:created>
  <dcterms:modified xsi:type="dcterms:W3CDTF">2020-06-01T05:24:36Z</dcterms:modified>
</cp:coreProperties>
</file>
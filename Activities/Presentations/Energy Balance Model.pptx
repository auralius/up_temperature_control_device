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1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27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60C4C-3C83-4131-BABB-35146B3A266A}" type="datetimeFigureOut">
              <a:rPr lang="en-US" smtClean="0"/>
              <a:t>7/29/2020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DCC33-CECF-4B2C-B61B-CC024AA0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5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DCC33-CECF-4B2C-B61B-CC024AA07E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4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86011-005C-4204-9E2D-4184B9092CB6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5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3CC6-FAA0-451A-91BF-B969CD124799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8051-C67B-4023-B04C-E0638128CB05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92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8A373-31F6-4D20-8DA2-08DDAAD3C218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1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3C7A-D573-4500-97E9-5CE1A1E3C9DF}" type="datetime1">
              <a:rPr lang="en-US" smtClean="0"/>
              <a:t>7/29/2020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1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CC1F9-56E0-413C-A9FD-970DE5C93AA0}" type="datetime1">
              <a:rPr lang="en-US" smtClean="0"/>
              <a:t>7/29/2020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5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F2B16-B128-4FBB-9A40-D6F18B1CE4C9}" type="datetime1">
              <a:rPr lang="en-US" smtClean="0"/>
              <a:t>7/29/2020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3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3737-3B96-4144-BC89-F95ED5A13DB2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8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5B4C7-AFCD-4290-B7F1-01C97B496AF4}" type="datetime1">
              <a:rPr lang="en-US" smtClean="0"/>
              <a:t>7/29/2020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2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0C92-3141-436F-B200-8EA347910ADD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8E7E7-2BC2-4A4A-9250-163098266FF5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3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2D09A-D601-4A04-951A-987FAF26DFE1}" type="datetime1">
              <a:rPr lang="en-US" smtClean="0"/>
              <a:t>7/29/2020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C81AF-3B07-461D-8DC8-603F1A77D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Energy Balance Model for the </a:t>
            </a:r>
            <a:r>
              <a:rPr lang="en-US" dirty="0" err="1" smtClean="0"/>
              <a:t>Universitas</a:t>
            </a:r>
            <a:r>
              <a:rPr lang="en-US" dirty="0" smtClean="0"/>
              <a:t> </a:t>
            </a:r>
            <a:r>
              <a:rPr lang="en-US" dirty="0" err="1" smtClean="0"/>
              <a:t>Pertamina</a:t>
            </a:r>
            <a:r>
              <a:rPr lang="en-US" dirty="0" smtClean="0"/>
              <a:t> Temperature Control Device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14" b="20000"/>
          <a:stretch/>
        </p:blipFill>
        <p:spPr bwMode="auto">
          <a:xfrm>
            <a:off x="3491880" y="3377182"/>
            <a:ext cx="2480386" cy="2380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4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Heat Dissipated by a Resistor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 smtClean="0"/>
                  <a:t> is the </a:t>
                </a:r>
                <a:r>
                  <a:rPr lang="en-US" dirty="0"/>
                  <a:t>voltage across the </a:t>
                </a:r>
                <a:r>
                  <a:rPr lang="en-US" dirty="0" smtClean="0"/>
                  <a:t>resistor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 smtClean="0"/>
                  <a:t> is the resistance of </a:t>
                </a:r>
                <a:r>
                  <a:rPr lang="en-US" dirty="0"/>
                  <a:t>the </a:t>
                </a:r>
                <a:r>
                  <a:rPr lang="en-US" dirty="0" smtClean="0"/>
                  <a:t>resistor</a:t>
                </a: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𝑉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dirty="0" smtClean="0"/>
                  <a:t> is the applied PWM percentage (from 0 to 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 smtClean="0"/>
                  <a:t> is the maximum voltage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12</m:t>
                    </m:r>
                  </m:oMath>
                </a14:m>
                <a:r>
                  <a:rPr lang="en-US" dirty="0" smtClean="0"/>
                  <a:t> Volts)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3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Heat Dissipated by a Resistor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Thus: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 smtClean="0"/>
                  <a:t>However, since we can not guarantee the correctness of the PWM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 smtClean="0"/>
                  <a:t>, we then </a:t>
                </a:r>
                <a:r>
                  <a:rPr lang="en-US" dirty="0"/>
                  <a:t>i</a:t>
                </a:r>
                <a:r>
                  <a:rPr lang="en-US" dirty="0" smtClean="0"/>
                  <a:t>ntroduce a correcting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: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We will use an optimization method to find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7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Balance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39341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/>
                        </a:rPr>
                        <m:t>Heat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/>
                        </a:rPr>
                        <m:t>in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/>
                        </a:rPr>
                        <m:t> =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Heat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Out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 +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/>
                        </a:rPr>
                        <m:t>Heat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B050"/>
                          </a:solidFill>
                          <a:latin typeface="Cambria Math"/>
                        </a:rPr>
                        <m:t>Stored</m:t>
                      </m:r>
                    </m:oMath>
                  </m:oMathPara>
                </a14:m>
                <a:endParaRPr lang="en-US" b="0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b="0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𝛽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h𝐴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)+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𝜎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𝑚𝑐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39341"/>
                <a:ext cx="8229600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Balance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dirty="0" smtClean="0"/>
                  <a:t> is the heat transfer coefficient  </a:t>
                </a:r>
                <a:r>
                  <a:rPr lang="en-US" dirty="0"/>
                  <a:t>-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𝑊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/(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  <a:ea typeface="Cambria Math"/>
                      </a:rPr>
                      <m:t>𝐾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</m:oMath>
                </a14:m>
                <a:r>
                  <a:rPr lang="en-US" dirty="0" smtClean="0"/>
                  <a:t> is the emissivity (from 0 to 1)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𝜎</m:t>
                    </m:r>
                  </m:oMath>
                </a14:m>
                <a:r>
                  <a:rPr lang="en-US" dirty="0" smtClean="0"/>
                  <a:t> is the Stefan-</a:t>
                </a:r>
                <a:r>
                  <a:rPr lang="en-US" dirty="0" err="1" smtClean="0"/>
                  <a:t>Boltzman</a:t>
                </a:r>
                <a:r>
                  <a:rPr lang="en-US" dirty="0" smtClean="0"/>
                  <a:t> constant , the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5.6703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−8</m:t>
                        </m:r>
                      </m:sup>
                    </m:sSup>
                    <m:r>
                      <a:rPr lang="en-US" b="0" i="1" smtClean="0">
                        <a:latin typeface="Cambria Math"/>
                        <a:ea typeface="Cambria Math"/>
                      </a:rPr>
                      <m:t>𝑊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/(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is the heat capacity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J</m:t>
                    </m:r>
                    <m:r>
                      <a:rPr lang="en-US" b="0" i="1" smtClean="0">
                        <a:latin typeface="Cambria Math"/>
                      </a:rPr>
                      <m:t>/(</m:t>
                    </m:r>
                    <m:r>
                      <a:rPr lang="en-US" b="0" i="1" smtClean="0">
                        <a:latin typeface="Cambria Math"/>
                      </a:rPr>
                      <m:t>𝑘𝑔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𝐾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is the temperature of the resistor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</m:t>
                    </m:r>
                  </m:oMath>
                </a14:m>
                <a:endParaRPr lang="en-US" b="0" i="1" dirty="0" smtClean="0">
                  <a:latin typeface="Cambria Math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/>
                  <a:t> is the ambient temperature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</m:t>
                    </m:r>
                  </m:oMath>
                </a14:m>
                <a:endParaRPr lang="en-US" dirty="0" smtClean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114800" y="2971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7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Unknown Parameters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57200" y="1639341"/>
                <a:ext cx="82296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 smtClean="0"/>
                  <a:t>Rewrite the energy balance equation in the following form: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h𝐴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)+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𝜎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39341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3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Unknown Parameters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Known values so far: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dirty="0" smtClean="0"/>
                  <a:t> is the given PWM command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=12</m:t>
                    </m:r>
                  </m:oMath>
                </a14:m>
                <a:r>
                  <a:rPr lang="en-US" b="0" dirty="0" smtClean="0"/>
                  <a:t> Volts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=27</m:t>
                    </m:r>
                  </m:oMath>
                </a14:m>
                <a:r>
                  <a:rPr lang="en-US" b="0" dirty="0" smtClean="0"/>
                  <a:t>Ohms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 smtClean="0"/>
                  <a:t> are from measurement</a:t>
                </a: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𝜎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=5.6703×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−8</m:t>
                        </m:r>
                      </m:sup>
                    </m:sSup>
                  </m:oMath>
                </a14:m>
                <a:endParaRPr lang="en-US" b="0" dirty="0" smtClean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=0.0008 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 smtClean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  <m:r>
                      <a:rPr lang="en-US" b="0" i="1" smtClean="0">
                        <a:latin typeface="Cambria Math"/>
                      </a:rPr>
                      <m:t>=0.005 </m:t>
                    </m:r>
                    <m:r>
                      <a:rPr lang="en-US" b="0" i="1" smtClean="0">
                        <a:latin typeface="Cambria Math"/>
                      </a:rPr>
                      <m:t>𝑘𝑔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Parameters to find: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h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𝑒</m:t>
                    </m:r>
                  </m:oMath>
                </a14:m>
                <a:r>
                  <a:rPr lang="en-US" dirty="0" smtClean="0"/>
                  <a:t>, from 0 to 1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 smtClean="0"/>
                  <a:t>, probably from 0 to 1</a:t>
                </a:r>
              </a:p>
              <a:p>
                <a:pPr lvl="1"/>
                <a:endParaRPr lang="en-US" b="0" dirty="0" smtClean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5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827584" y="3429000"/>
            <a:ext cx="2160240" cy="6639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87824" y="3645024"/>
            <a:ext cx="468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More or less, measured with a ruler and a scale.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0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" t="3559" r="8081"/>
          <a:stretch/>
        </p:blipFill>
        <p:spPr>
          <a:xfrm>
            <a:off x="66291" y="1484784"/>
            <a:ext cx="8970205" cy="504056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1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1" r="7407"/>
          <a:stretch/>
        </p:blipFill>
        <p:spPr>
          <a:xfrm>
            <a:off x="611560" y="1484784"/>
            <a:ext cx="7930242" cy="462060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46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Cambria Math"/>
                  </a:rPr>
                  <a:t>By using the </a:t>
                </a:r>
                <a:r>
                  <a:rPr lang="en-US" i="1" dirty="0" err="1" smtClean="0">
                    <a:latin typeface="Cambria Math"/>
                  </a:rPr>
                  <a:t>fminsearch</a:t>
                </a:r>
                <a:r>
                  <a:rPr lang="en-US" i="1" dirty="0" smtClean="0">
                    <a:latin typeface="Cambria Math"/>
                  </a:rPr>
                  <a:t> </a:t>
                </a:r>
                <a:r>
                  <a:rPr lang="en-US" dirty="0" smtClean="0">
                    <a:latin typeface="Cambria Math"/>
                  </a:rPr>
                  <a:t>command </a:t>
                </a:r>
                <a:r>
                  <a:rPr lang="en-US" i="1" dirty="0" smtClean="0">
                    <a:latin typeface="Cambria Math"/>
                  </a:rPr>
                  <a:t>(</a:t>
                </a:r>
                <a:r>
                  <a:rPr lang="en-US" i="1" dirty="0" err="1" smtClean="0">
                    <a:latin typeface="Cambria Math"/>
                  </a:rPr>
                  <a:t>fmincon</a:t>
                </a:r>
                <a:r>
                  <a:rPr lang="en-US" i="1" dirty="0" smtClean="0">
                    <a:latin typeface="Cambria Math"/>
                  </a:rPr>
                  <a:t> </a:t>
                </a:r>
                <a:r>
                  <a:rPr lang="en-US" dirty="0" smtClean="0">
                    <a:latin typeface="Cambria Math"/>
                  </a:rPr>
                  <a:t>gives worse estimates</a:t>
                </a:r>
                <a:r>
                  <a:rPr lang="en-US" i="1" dirty="0" smtClean="0">
                    <a:latin typeface="Cambria Math"/>
                  </a:rPr>
                  <a:t>)</a:t>
                </a:r>
              </a:p>
              <a:p>
                <a:endParaRPr lang="en-US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=1015.1584</m:t>
                    </m:r>
                    <m: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J</m:t>
                    </m:r>
                    <m:r>
                      <a:rPr lang="en-US" i="1">
                        <a:latin typeface="Cambria Math"/>
                      </a:rPr>
                      <m:t>/(</m:t>
                    </m:r>
                    <m:r>
                      <a:rPr lang="en-US" i="1">
                        <a:latin typeface="Cambria Math"/>
                      </a:rPr>
                      <m:t>𝑘𝑔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b="0" i="1" smtClean="0">
                        <a:latin typeface="Cambria Math"/>
                      </a:rPr>
                      <m:t>=19.7300 </m:t>
                    </m:r>
                    <m:r>
                      <a:rPr lang="en-US" b="0" i="1" smtClean="0">
                        <a:latin typeface="Cambria Math"/>
                      </a:rPr>
                      <m:t>𝑊</m:t>
                    </m:r>
                    <m:r>
                      <a:rPr lang="en-US" b="0" i="1" smtClean="0">
                        <a:latin typeface="Cambria Math"/>
                      </a:rPr>
                      <m:t>/(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𝐾</m:t>
                    </m:r>
                    <m:r>
                      <a:rPr lang="en-US" b="0" i="1" smtClean="0">
                        <a:latin typeface="Cambria Math"/>
                      </a:rPr>
                      <m:t>) 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𝑒</m:t>
                    </m:r>
                    <m:r>
                      <a:rPr lang="en-US" b="0" i="1" smtClean="0">
                        <a:latin typeface="Cambria Math"/>
                      </a:rPr>
                      <m:t>=0.9</m:t>
                    </m:r>
                    <m:r>
                      <a:rPr lang="en-US" b="0" i="0" smtClean="0">
                        <a:latin typeface="Cambria Math"/>
                      </a:rPr>
                      <m:t>047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=0.5131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pPr lvl="1"/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And the maximum value of the absolute error is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7℃ </m:t>
                    </m:r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774"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1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Seriously, no time delay?</a:t>
            </a:r>
          </a:p>
          <a:p>
            <a:pPr marL="0" indent="0" algn="ctr">
              <a:buNone/>
            </a:pPr>
            <a:r>
              <a:rPr lang="en-US" dirty="0" smtClean="0"/>
              <a:t>Why?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915325"/>
            <a:ext cx="2114550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7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Modeling Heat Transfer Coefficient by the Fan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2672916"/>
            <a:ext cx="3970653" cy="3671494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12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71800" y="2492896"/>
            <a:ext cx="1656184" cy="1080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3017" y="1772816"/>
            <a:ext cx="6405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Small fan on top the heater. The speed of the fan can be adjusted, </a:t>
            </a:r>
          </a:p>
          <a:p>
            <a:r>
              <a:rPr lang="en-US" dirty="0" smtClean="0"/>
              <a:t>from 0 (no speed) to 1 (full speed).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59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Energy Balance Model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The model becomes: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𝑟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𝜎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𝐴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the heat transfer rate for normal convection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is by the fan</a:t>
                </a:r>
                <a:r>
                  <a:rPr lang="en-US" dirty="0" smtClean="0"/>
                  <a:t>.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𝛾</m:t>
                    </m:r>
                  </m:oMath>
                </a14:m>
                <a:r>
                  <a:rPr lang="en-US" dirty="0" smtClean="0"/>
                  <a:t> is the speed of the fan (from 0 to 1).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0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2" r="7239"/>
          <a:stretch/>
        </p:blipFill>
        <p:spPr>
          <a:xfrm>
            <a:off x="179512" y="1268760"/>
            <a:ext cx="8663319" cy="49685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8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552406"/>
            <a:ext cx="6962758" cy="504494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47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latin typeface="Cambria Math"/>
                  </a:rPr>
                  <a:t>By using the </a:t>
                </a:r>
                <a:r>
                  <a:rPr lang="en-US" i="1" dirty="0" err="1">
                    <a:latin typeface="Cambria Math"/>
                  </a:rPr>
                  <a:t>fminsearch</a:t>
                </a:r>
                <a:r>
                  <a:rPr lang="en-US" i="1" dirty="0">
                    <a:latin typeface="Cambria Math"/>
                  </a:rPr>
                  <a:t> </a:t>
                </a:r>
                <a:r>
                  <a:rPr lang="en-US" dirty="0" smtClean="0">
                    <a:latin typeface="Cambria Math"/>
                  </a:rPr>
                  <a:t>command:</a:t>
                </a:r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=101</m:t>
                    </m:r>
                    <m:r>
                      <a:rPr lang="en-US" b="0" i="1" smtClean="0">
                        <a:latin typeface="Cambria Math"/>
                      </a:rPr>
                      <m:t>4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0" smtClean="0">
                        <a:latin typeface="Cambria Math"/>
                      </a:rPr>
                      <m:t>0626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J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𝑘𝑔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9.7554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den>
                    </m:f>
                  </m:oMath>
                </a14:m>
                <a:endParaRPr lang="en-US" i="1" dirty="0" smtClean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117</m:t>
                    </m:r>
                    <m:r>
                      <a:rPr lang="en-US" i="1">
                        <a:latin typeface="Cambria Math"/>
                      </a:rPr>
                      <m:t>.</m:t>
                    </m:r>
                    <m:r>
                      <a:rPr lang="en-US" b="0" i="1" smtClean="0">
                        <a:latin typeface="Cambria Math"/>
                      </a:rPr>
                      <m:t>8434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𝐾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𝑒</m:t>
                    </m:r>
                    <m:r>
                      <a:rPr lang="en-US" i="1">
                        <a:latin typeface="Cambria Math"/>
                      </a:rPr>
                      <m:t>=0.9</m:t>
                    </m:r>
                    <m:r>
                      <a:rPr lang="en-US" b="0" i="0" smtClean="0">
                        <a:latin typeface="Cambria Math"/>
                      </a:rPr>
                      <m:t>222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=0.5153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the maximum value of the absolute error is less than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9</m:t>
                    </m:r>
                    <m:r>
                      <a:rPr lang="en-US" i="1">
                        <a:latin typeface="Cambria Math"/>
                      </a:rPr>
                      <m:t>℃ 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The other parameters get slightly readjusted. Compare them with the previous experiment. </a:t>
                </a: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We have some uncertainties here, every time we do the experiment, we might end up with slightly different values.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202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C81AF-3B07-461D-8DC8-603F1A77D6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4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793</Words>
  <Application>Microsoft Office PowerPoint</Application>
  <PresentationFormat>On-screen Show (4:3)</PresentationFormat>
  <Paragraphs>112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Energy Balance Model for the Universitas Pertamina Temperature Control Device</vt:lpstr>
      <vt:lpstr>Heat Dissipated by a Resistor</vt:lpstr>
      <vt:lpstr>Heat Dissipated by a Resistor</vt:lpstr>
      <vt:lpstr>Energy Balance Model</vt:lpstr>
      <vt:lpstr>Energy Balance Model</vt:lpstr>
      <vt:lpstr>Finding the Unknown Parameters</vt:lpstr>
      <vt:lpstr>Finding the Unknown Parameters</vt:lpstr>
      <vt:lpstr>Results</vt:lpstr>
      <vt:lpstr>Results</vt:lpstr>
      <vt:lpstr>Results</vt:lpstr>
      <vt:lpstr>Results</vt:lpstr>
      <vt:lpstr>Modeling Heat Transfer Coefficient by the Fan </vt:lpstr>
      <vt:lpstr>Energy Balance Model</vt:lpstr>
      <vt:lpstr>Results</vt:lpstr>
      <vt:lpstr>Results</vt:lpstr>
      <vt:lpstr>Results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Balance Model</dc:title>
  <dc:creator>RePack by Diakov</dc:creator>
  <cp:lastModifiedBy>RePack by Diakov</cp:lastModifiedBy>
  <cp:revision>47</cp:revision>
  <dcterms:created xsi:type="dcterms:W3CDTF">2020-07-28T02:41:37Z</dcterms:created>
  <dcterms:modified xsi:type="dcterms:W3CDTF">2020-07-29T15:37:34Z</dcterms:modified>
</cp:coreProperties>
</file>
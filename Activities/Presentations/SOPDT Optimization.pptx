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57" r:id="rId4"/>
    <p:sldId id="258" r:id="rId5"/>
    <p:sldId id="259" r:id="rId6"/>
    <p:sldId id="261" r:id="rId7"/>
    <p:sldId id="264" r:id="rId8"/>
    <p:sldId id="260" r:id="rId9"/>
    <p:sldId id="263" r:id="rId10"/>
    <p:sldId id="265" r:id="rId11"/>
    <p:sldId id="266" r:id="rId12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597" autoAdjust="0"/>
  </p:normalViewPr>
  <p:slideViewPr>
    <p:cSldViewPr>
      <p:cViewPr varScale="1">
        <p:scale>
          <a:sx n="63" d="100"/>
          <a:sy n="63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D2713-7E41-4F19-935D-43CE91CC1DCC}" type="datetimeFigureOut">
              <a:rPr lang="id-ID" smtClean="0"/>
              <a:t>17/06/2020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6A579-7F26-40D7-A53A-8DF0E00DA7E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0630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94CB-B6E1-40F2-A96C-098D7E152D8D}" type="datetime1">
              <a:rPr lang="id-ID" smtClean="0"/>
              <a:t>17/06/2020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228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E307-A98E-4AD9-9F26-6E28005044CF}" type="datetime1">
              <a:rPr lang="id-ID" smtClean="0"/>
              <a:t>17/06/2020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444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ACB8-8078-4239-AB0C-F1770CD2DACB}" type="datetime1">
              <a:rPr lang="id-ID" smtClean="0"/>
              <a:t>17/06/2020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5482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1B94-F858-41B7-8F99-6301C0B7EE88}" type="datetime1">
              <a:rPr lang="id-ID" smtClean="0"/>
              <a:t>17/06/2020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2626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ADA2-4FAF-45B5-97D4-138401DFB93B}" type="datetime1">
              <a:rPr lang="id-ID" smtClean="0"/>
              <a:t>17/06/2020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9361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95EC-E8A3-458E-9386-98670D64A019}" type="datetime1">
              <a:rPr lang="id-ID" smtClean="0"/>
              <a:t>17/06/2020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5100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52BCB-B62E-46E2-BD0F-7E16F5EEB3AC}" type="datetime1">
              <a:rPr lang="id-ID" smtClean="0"/>
              <a:t>17/06/2020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5437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44D9-1C33-40FC-96C1-BDE98881B8D4}" type="datetime1">
              <a:rPr lang="id-ID" smtClean="0"/>
              <a:t>17/06/2020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81081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5256-660B-4989-84EC-CE67CE4F7551}" type="datetime1">
              <a:rPr lang="id-ID" smtClean="0"/>
              <a:t>17/06/2020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9454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31AE-7E83-4051-921C-AF3F8D575BC5}" type="datetime1">
              <a:rPr lang="id-ID" smtClean="0"/>
              <a:t>17/06/2020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91831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458-75DB-4CD5-97E4-FE96F9D71AC9}" type="datetime1">
              <a:rPr lang="id-ID" smtClean="0"/>
              <a:t>17/06/2020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5779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825A0-EDD3-4F4D-9FB7-9573B5EAB38C}" type="datetime1">
              <a:rPr lang="id-ID" smtClean="0"/>
              <a:t>17/06/2020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A9F2F-089D-4DCC-8F7D-C9C922ECE4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985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Modelling a Thermal Response as</a:t>
            </a:r>
            <a:r>
              <a:rPr lang="en-US" dirty="0"/>
              <a:t> </a:t>
            </a:r>
            <a:r>
              <a:rPr lang="id-ID" dirty="0"/>
              <a:t>1-DOF Vibratory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d-ID" dirty="0"/>
              <a:t>ME</a:t>
            </a:r>
          </a:p>
          <a:p>
            <a:r>
              <a:rPr lang="id-ID" dirty="0"/>
              <a:t>Universtitas Pertamina</a:t>
            </a:r>
          </a:p>
          <a:p>
            <a:r>
              <a:rPr lang="id-ID" dirty="0"/>
              <a:t>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D7789-7F40-43FD-B35F-8F886239B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215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094B-9EF6-4F24-A55D-2EEB75F6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Intended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3B8C0-F47A-450C-96D0-8F53BA6E2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dirty="0"/>
              <a:t>Students can derive the mathematical model of a thermal system by using data-driven methods.</a:t>
            </a:r>
          </a:p>
          <a:p>
            <a:endParaRPr lang="id-ID" dirty="0"/>
          </a:p>
          <a:p>
            <a:r>
              <a:rPr lang="id-ID" dirty="0"/>
              <a:t>Students can simulate a thermal system and compare the simulation to the real process.</a:t>
            </a:r>
          </a:p>
          <a:p>
            <a:endParaRPr lang="id-ID" dirty="0"/>
          </a:p>
          <a:p>
            <a:r>
              <a:rPr lang="id-ID" dirty="0"/>
              <a:t>Student can analyze the model and gain knowledge on the real system through the developed model.</a:t>
            </a:r>
          </a:p>
          <a:p>
            <a:pPr marL="0" indent="0">
              <a:buNone/>
            </a:pPr>
            <a:endParaRPr lang="id-ID" dirty="0"/>
          </a:p>
          <a:p>
            <a:r>
              <a:rPr lang="id-ID" dirty="0"/>
              <a:t>Students can understand the analogy of a vibratory system and a thermal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4A7C0-B797-40ED-AD23-49A55239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5255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latin typeface="Cambria Math"/>
              </a:rPr>
              <a:t>1-DOF Vibartory System</a:t>
            </a:r>
            <a:endParaRPr lang="id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dirty="0">
                    <a:latin typeface="Cambria Math"/>
                  </a:rPr>
                  <a:t>A 1-DOF vibartory system with input delay:</a:t>
                </a:r>
              </a:p>
              <a:p>
                <a:pPr marL="0" indent="0">
                  <a:buNone/>
                </a:pPr>
                <a:endParaRPr lang="id-ID" b="0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/>
                        </a:rPr>
                        <m:t>𝑀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id-ID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id-ID" b="0" i="1" smtClean="0">
                              <a:latin typeface="Cambria Math"/>
                            </a:rPr>
                            <m:t>𝑇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(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id-ID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id-ID" b="0" i="1" smtClean="0">
                          <a:latin typeface="Cambria Math"/>
                        </a:rPr>
                        <m:t>+</m:t>
                      </m:r>
                      <m:r>
                        <a:rPr lang="id-ID" b="0" i="1" smtClean="0">
                          <a:latin typeface="Cambria Math"/>
                        </a:rPr>
                        <m:t>𝐵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/>
                            </a:rPr>
                            <m:t>𝑑𝑇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(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id-ID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id-ID" b="0" i="1" smtClean="0">
                          <a:latin typeface="Cambria Math"/>
                        </a:rPr>
                        <m:t>+</m:t>
                      </m:r>
                      <m:r>
                        <a:rPr lang="id-ID" b="0" i="1" smtClean="0">
                          <a:latin typeface="Cambria Math"/>
                        </a:rPr>
                        <m:t>𝐾𝑇</m:t>
                      </m:r>
                      <m:r>
                        <a:rPr lang="id-ID" b="0" i="1" smtClean="0">
                          <a:latin typeface="Cambria Math"/>
                        </a:rPr>
                        <m:t>=</m:t>
                      </m:r>
                      <m:r>
                        <a:rPr lang="id-ID" b="0" i="1" smtClean="0">
                          <a:latin typeface="Cambria Math"/>
                        </a:rPr>
                        <m:t>𝑢</m:t>
                      </m:r>
                      <m:d>
                        <m:d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−</m:t>
                          </m:r>
                          <m:r>
                            <a:rPr lang="id-ID" b="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id-ID" b="0" dirty="0">
                  <a:ea typeface="Cambria Math"/>
                </a:endParaRPr>
              </a:p>
              <a:p>
                <a:pPr marL="0" indent="0">
                  <a:buNone/>
                </a:pPr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DB8AE18-C41A-4634-88F4-527DB7D12904}"/>
              </a:ext>
            </a:extLst>
          </p:cNvPr>
          <p:cNvGrpSpPr/>
          <p:nvPr/>
        </p:nvGrpSpPr>
        <p:grpSpPr>
          <a:xfrm>
            <a:off x="2339752" y="4149080"/>
            <a:ext cx="4693075" cy="2159645"/>
            <a:chOff x="2339752" y="4149080"/>
            <a:chExt cx="4693075" cy="21596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380C615-791B-499D-87EB-8EC54245A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9752" y="4149080"/>
              <a:ext cx="4693075" cy="21596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7AAE51D-0BC9-4E57-B38C-D0A6FE3496D4}"/>
                    </a:ext>
                  </a:extLst>
                </p:cNvPr>
                <p:cNvSpPr/>
                <p:nvPr/>
              </p:nvSpPr>
              <p:spPr>
                <a:xfrm>
                  <a:off x="5652120" y="4725144"/>
                  <a:ext cx="107734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>
                            <a:latin typeface="Cambria Math"/>
                          </a:rPr>
                          <m:t>𝑢</m:t>
                        </m:r>
                        <m:d>
                          <m:d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/>
                              </a:rPr>
                              <m:t>𝑡</m:t>
                            </m:r>
                            <m:r>
                              <a:rPr lang="id-ID" i="1">
                                <a:latin typeface="Cambria Math"/>
                              </a:rPr>
                              <m:t>−</m:t>
                            </m:r>
                            <m:r>
                              <a:rPr lang="id-ID" i="1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id-ID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7AAE51D-0BC9-4E57-B38C-D0A6FE3496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2120" y="4725144"/>
                  <a:ext cx="107734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598108C-D924-474C-B08B-A75B977A7F2F}"/>
                    </a:ext>
                  </a:extLst>
                </p:cNvPr>
                <p:cNvSpPr/>
                <p:nvPr/>
              </p:nvSpPr>
              <p:spPr>
                <a:xfrm>
                  <a:off x="4572000" y="5044236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>
                            <a:latin typeface="Cambria Math"/>
                          </a:rPr>
                          <m:t>𝑀</m:t>
                        </m:r>
                      </m:oMath>
                    </m:oMathPara>
                  </a14:m>
                  <a:endParaRPr lang="id-ID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598108C-D924-474C-B08B-A75B977A7F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5044236"/>
                  <a:ext cx="44037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06E0190-FE99-4867-BB42-13A9D631C732}"/>
                    </a:ext>
                  </a:extLst>
                </p:cNvPr>
                <p:cNvSpPr/>
                <p:nvPr/>
              </p:nvSpPr>
              <p:spPr>
                <a:xfrm>
                  <a:off x="3234654" y="5517232"/>
                  <a:ext cx="39607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  <a:endParaRPr lang="id-ID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306E0190-FE99-4867-BB42-13A9D631C7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4654" y="5517232"/>
                  <a:ext cx="39607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A86C1DC-67C7-43F9-82E3-E0851322924F}"/>
                    </a:ext>
                  </a:extLst>
                </p:cNvPr>
                <p:cNvSpPr/>
                <p:nvPr/>
              </p:nvSpPr>
              <p:spPr>
                <a:xfrm>
                  <a:off x="3224267" y="4410564"/>
                  <a:ext cx="40645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>
                            <a:latin typeface="Cambria Math"/>
                          </a:rPr>
                          <m:t>𝐾</m:t>
                        </m:r>
                      </m:oMath>
                    </m:oMathPara>
                  </a14:m>
                  <a:endParaRPr lang="id-ID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A86C1DC-67C7-43F9-82E3-E085132292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4267" y="4410564"/>
                  <a:ext cx="40645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4A452AC-C8B1-4D29-8AFF-2364829D89EA}"/>
                </a:ext>
              </a:extLst>
            </p:cNvPr>
            <p:cNvCxnSpPr/>
            <p:nvPr/>
          </p:nvCxnSpPr>
          <p:spPr>
            <a:xfrm>
              <a:off x="4716016" y="6021288"/>
              <a:ext cx="9361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24A42E-556F-4C2B-BEB0-3B0E04B1EB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016" y="5517233"/>
              <a:ext cx="0" cy="5040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5F2CA9A-9B13-4856-9944-E5C311BBE224}"/>
                    </a:ext>
                  </a:extLst>
                </p:cNvPr>
                <p:cNvSpPr/>
                <p:nvPr/>
              </p:nvSpPr>
              <p:spPr>
                <a:xfrm>
                  <a:off x="5611064" y="5776959"/>
                  <a:ext cx="38048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>
                            <a:latin typeface="Cambria Math"/>
                          </a:rPr>
                          <m:t>𝑇</m:t>
                        </m:r>
                      </m:oMath>
                    </m:oMathPara>
                  </a14:m>
                  <a:endParaRPr lang="id-ID" dirty="0"/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5F2CA9A-9B13-4856-9944-E5C311BBE2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064" y="5776959"/>
                  <a:ext cx="38048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56A3E-7F32-4CBD-9BF8-1F6A28A1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9699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Hariott’s Method for an Overdamped Second Order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id-ID" dirty="0"/>
                  <a:t>Hariott’s method for the inital guess:</a:t>
                </a:r>
              </a:p>
              <a:p>
                <a:endParaRPr lang="id-ID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/>
                            </a:rPr>
                            <m:t>𝑇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(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id-ID" b="0" i="1" smtClean="0">
                              <a:latin typeface="Cambria Math"/>
                            </a:rPr>
                            <m:t>𝑈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(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id-ID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d-ID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𝐿𝑠</m:t>
                              </m:r>
                            </m:sup>
                          </m:sSup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/>
                                </a:rPr>
                                <m:t>𝑠𝑠</m:t>
                              </m:r>
                            </m:sub>
                          </m:sSub>
                        </m:num>
                        <m:den>
                          <m:r>
                            <a:rPr lang="id-ID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id-ID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id-ID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  <m:r>
                            <a:rPr lang="id-ID" b="0" i="1" smtClean="0">
                              <a:latin typeface="Cambria Math"/>
                              <a:ea typeface="Cambria Math"/>
                            </a:rPr>
                            <m:t>)(</m:t>
                          </m:r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id-ID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id-ID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  <m:r>
                            <a:rPr lang="id-ID" b="0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d-ID" b="0" dirty="0"/>
              </a:p>
              <a:p>
                <a:pPr marL="457200" lvl="1" indent="0">
                  <a:buNone/>
                </a:pPr>
                <a:endParaRPr lang="id-ID" b="0" dirty="0"/>
              </a:p>
              <a:p>
                <a:pPr marL="457200" lvl="1" indent="0">
                  <a:buNone/>
                </a:pPr>
                <a:r>
                  <a:rPr lang="id-ID" dirty="0"/>
                  <a:t>Hariott’s method estimates the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/>
                      </a:rPr>
                      <m:t>𝐿</m:t>
                    </m:r>
                    <m:r>
                      <a:rPr lang="id-ID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id-ID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id-ID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id-ID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id-ID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id-ID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id-ID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d-ID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id-ID" b="0" i="1" smtClean="0">
                            <a:latin typeface="Cambria Math"/>
                            <a:ea typeface="Cambria Math"/>
                          </a:rPr>
                          <m:t>𝐾</m:t>
                        </m:r>
                      </m:e>
                      <m:sub>
                        <m:r>
                          <a:rPr lang="id-ID" b="0" i="1" smtClean="0">
                            <a:latin typeface="Cambria Math"/>
                            <a:ea typeface="Cambria Math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id-ID" dirty="0"/>
                  <a:t>.</a:t>
                </a:r>
              </a:p>
              <a:p>
                <a:pPr marL="457200" lvl="1" indent="0">
                  <a:buNone/>
                </a:pPr>
                <a:endParaRPr lang="id-ID" dirty="0"/>
              </a:p>
              <a:p>
                <a:pPr marL="457200" lvl="1" indent="0">
                  <a:buNone/>
                </a:pPr>
                <a:r>
                  <a:rPr lang="id-ID" dirty="0"/>
                  <a:t>The Hariott’s method is quite complicated. A MATLAB script has been provided for this purpose. If there is time available, we shall revisit the Hariott’s method as it is a well known method in industrial process control.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3504" r="-1185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4C2BC-100A-40F9-94B2-491DCCDB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3337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Parameter Optimization for the Vibratory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id-ID" dirty="0"/>
                  <a:t>Convert the Hariott’s model into:</a:t>
                </a:r>
              </a:p>
              <a:p>
                <a:endParaRPr lang="id-ID" dirty="0"/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/>
                            </a:rPr>
                            <m:t>𝑇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(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id-ID" b="0" i="1" smtClean="0">
                              <a:latin typeface="Cambria Math"/>
                            </a:rPr>
                            <m:t>𝑈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(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id-ID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d-ID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id-ID" b="0" i="1" smtClean="0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id-ID" b="0" i="1" smtClean="0">
                              <a:latin typeface="Cambria Math"/>
                            </a:rPr>
                            <m:t>𝑀</m:t>
                          </m:r>
                          <m:sSup>
                            <m:sSup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d-ID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id-ID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id-ID" b="0" i="1" smtClean="0">
                              <a:latin typeface="Cambria Math"/>
                            </a:rPr>
                            <m:t>+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𝐵𝑠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+</m:t>
                          </m:r>
                          <m:r>
                            <a:rPr lang="id-ID" b="0" i="1" smtClean="0">
                              <a:latin typeface="Cambria Math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id-ID" b="0" dirty="0"/>
              </a:p>
              <a:p>
                <a:endParaRPr lang="id-ID" dirty="0"/>
              </a:p>
              <a:p>
                <a:r>
                  <a:rPr lang="id-ID" dirty="0"/>
                  <a:t>Use MATLAB unconstrained optimization function to estimate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/>
                      </a:rPr>
                      <m:t>𝑀</m:t>
                    </m:r>
                    <m:r>
                      <a:rPr lang="id-ID" b="0" i="1" smtClean="0">
                        <a:latin typeface="Cambria Math"/>
                      </a:rPr>
                      <m:t>, </m:t>
                    </m:r>
                    <m:r>
                      <a:rPr lang="id-ID" b="0" i="1" smtClean="0">
                        <a:latin typeface="Cambria Math"/>
                      </a:rPr>
                      <m:t>𝐵</m:t>
                    </m:r>
                    <m:r>
                      <a:rPr lang="id-ID" b="0" i="1" smtClean="0">
                        <a:latin typeface="Cambria Math"/>
                      </a:rPr>
                      <m:t>, </m:t>
                    </m:r>
                    <m:r>
                      <a:rPr lang="id-ID" b="0" i="1" smtClean="0">
                        <a:latin typeface="Cambria Math"/>
                      </a:rPr>
                      <m:t>𝐾</m:t>
                    </m:r>
                  </m:oMath>
                </a14:m>
                <a:r>
                  <a:rPr lang="id-ID" dirty="0"/>
                  <a:t> and </a:t>
                </a:r>
                <a14:m>
                  <m:oMath xmlns:m="http://schemas.openxmlformats.org/officeDocument/2006/math">
                    <m:r>
                      <a:rPr lang="id-ID" b="0" i="1" smtClean="0"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r>
                  <a:rPr lang="id-ID" dirty="0"/>
                  <a:t> with the intial values provided by the Hariott’s method.</a:t>
                </a:r>
              </a:p>
              <a:p>
                <a:endParaRPr lang="id-ID" dirty="0"/>
              </a:p>
              <a:p>
                <a:r>
                  <a:rPr lang="id-ID" dirty="0"/>
                  <a:t>A MATLAB script has also been provided for the optimization process.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83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82D9B-1C0A-4D91-8485-F5A8975C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862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The Optimized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i="1" smtClean="0">
                          <a:latin typeface="Cambria Math"/>
                        </a:rPr>
                        <m:t>𝑀</m:t>
                      </m:r>
                      <m:r>
                        <a:rPr lang="id-ID" i="1" smtClean="0">
                          <a:latin typeface="Cambria Math"/>
                        </a:rPr>
                        <m:t>=1622.5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𝑁</m:t>
                      </m:r>
                      <m:sSup>
                        <m:sSup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/°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d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/>
                        </a:rPr>
                        <m:t>𝐵</m:t>
                      </m:r>
                      <m:r>
                        <a:rPr lang="id-ID" b="0" i="1" smtClean="0">
                          <a:latin typeface="Cambria Math"/>
                        </a:rPr>
                        <m:t>=186.8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/°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d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/>
                        </a:rPr>
                        <m:t>𝐾</m:t>
                      </m:r>
                      <m:r>
                        <a:rPr lang="id-ID" b="0" i="1" smtClean="0">
                          <a:latin typeface="Cambria Math"/>
                        </a:rPr>
                        <m:t>=0.9 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/°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d-ID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id-ID" b="0" i="1" smtClean="0">
                          <a:latin typeface="Cambria Math"/>
                          <a:ea typeface="Cambria Math"/>
                        </a:rPr>
                        <m:t>=10.2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  <a:ea typeface="Cambria Math"/>
                        </a:rPr>
                        <m:t>𝑠</m:t>
                      </m:r>
                    </m:oMath>
                  </m:oMathPara>
                </a14:m>
                <a:endParaRPr lang="id-ID" dirty="0"/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:r>
                  <a:rPr lang="id-ID" dirty="0"/>
                  <a:t>Do the units look funny?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b="-2156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7472C-BD8E-424E-B8F9-EE6C4A05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6</a:t>
            </a:fld>
            <a:endParaRPr lang="id-ID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465AD2-1CCB-432A-B434-9BBA599007DE}"/>
              </a:ext>
            </a:extLst>
          </p:cNvPr>
          <p:cNvGrpSpPr/>
          <p:nvPr/>
        </p:nvGrpSpPr>
        <p:grpSpPr>
          <a:xfrm>
            <a:off x="2544316" y="3441976"/>
            <a:ext cx="4055367" cy="1866187"/>
            <a:chOff x="2339752" y="4149080"/>
            <a:chExt cx="4693075" cy="21596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6C7E4F1-C68F-4E8A-A706-4C74A4B3E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9752" y="4149080"/>
              <a:ext cx="4693075" cy="21596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EC96D0-3F2B-4D4D-BC2C-6C471CAAC1E7}"/>
                    </a:ext>
                  </a:extLst>
                </p:cNvPr>
                <p:cNvSpPr/>
                <p:nvPr/>
              </p:nvSpPr>
              <p:spPr>
                <a:xfrm>
                  <a:off x="5652120" y="4725144"/>
                  <a:ext cx="107734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>
                            <a:latin typeface="Cambria Math"/>
                          </a:rPr>
                          <m:t>𝑢</m:t>
                        </m:r>
                        <m:d>
                          <m:dPr>
                            <m:ctrlPr>
                              <a:rPr lang="id-ID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d-ID" i="1">
                                <a:latin typeface="Cambria Math"/>
                              </a:rPr>
                              <m:t>𝑡</m:t>
                            </m:r>
                            <m:r>
                              <a:rPr lang="id-ID" i="1">
                                <a:latin typeface="Cambria Math"/>
                              </a:rPr>
                              <m:t>−</m:t>
                            </m:r>
                            <m:r>
                              <a:rPr lang="id-ID" i="1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id-ID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EC96D0-3F2B-4D4D-BC2C-6C471CAAC1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2120" y="4725144"/>
                  <a:ext cx="107734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5660"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BED3538-4DF4-4662-8539-4C1F8812A2E2}"/>
                    </a:ext>
                  </a:extLst>
                </p:cNvPr>
                <p:cNvSpPr/>
                <p:nvPr/>
              </p:nvSpPr>
              <p:spPr>
                <a:xfrm>
                  <a:off x="4572000" y="5044236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>
                            <a:latin typeface="Cambria Math"/>
                          </a:rPr>
                          <m:t>𝑀</m:t>
                        </m:r>
                      </m:oMath>
                    </m:oMathPara>
                  </a14:m>
                  <a:endParaRPr lang="id-ID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BED3538-4DF4-4662-8539-4C1F8812A2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5044236"/>
                  <a:ext cx="440377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FD02E67-289D-45B4-99A8-240579E401A9}"/>
                    </a:ext>
                  </a:extLst>
                </p:cNvPr>
                <p:cNvSpPr/>
                <p:nvPr/>
              </p:nvSpPr>
              <p:spPr>
                <a:xfrm>
                  <a:off x="3234654" y="5517232"/>
                  <a:ext cx="39607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  <a:endParaRPr lang="id-ID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FD02E67-289D-45B4-99A8-240579E401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4654" y="5517232"/>
                  <a:ext cx="39607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C6C749E-69B7-4AB7-A659-0CE2F1CDC96A}"/>
                    </a:ext>
                  </a:extLst>
                </p:cNvPr>
                <p:cNvSpPr/>
                <p:nvPr/>
              </p:nvSpPr>
              <p:spPr>
                <a:xfrm>
                  <a:off x="3224267" y="4410564"/>
                  <a:ext cx="40645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>
                            <a:latin typeface="Cambria Math"/>
                          </a:rPr>
                          <m:t>𝐾</m:t>
                        </m:r>
                      </m:oMath>
                    </m:oMathPara>
                  </a14:m>
                  <a:endParaRPr lang="id-ID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C6C749E-69B7-4AB7-A659-0CE2F1CDC9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4267" y="4410564"/>
                  <a:ext cx="406457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79187E-1322-45C9-9D1A-047B269DE781}"/>
                </a:ext>
              </a:extLst>
            </p:cNvPr>
            <p:cNvCxnSpPr/>
            <p:nvPr/>
          </p:nvCxnSpPr>
          <p:spPr>
            <a:xfrm>
              <a:off x="4716016" y="6021288"/>
              <a:ext cx="9361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DAC857-DCDF-4016-BF0C-FD3FE63210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016" y="5517233"/>
              <a:ext cx="0" cy="5040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C23B509-5E68-40E9-8D90-98C17754A803}"/>
                    </a:ext>
                  </a:extLst>
                </p:cNvPr>
                <p:cNvSpPr/>
                <p:nvPr/>
              </p:nvSpPr>
              <p:spPr>
                <a:xfrm>
                  <a:off x="5611065" y="5776959"/>
                  <a:ext cx="775199" cy="427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d-ID" i="1" smtClean="0">
                            <a:latin typeface="Cambria Math"/>
                          </a:rPr>
                          <m:t>𝑇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d-ID" dirty="0"/>
                </a:p>
              </p:txBody>
            </p:sp>
          </mc:Choice>
          <mc:Fallback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C23B509-5E68-40E9-8D90-98C17754A8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065" y="5776959"/>
                  <a:ext cx="775199" cy="427409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80692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6B37-78C6-437F-8B7C-9BE5FD3D9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State-Space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8C0AA-DDA3-43AD-81E2-29CBA04E6A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endParaRPr lang="id-ID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id-ID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id-ID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id-ID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id-ID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id-ID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̈"/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d-ID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d-ID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115</m:t>
                                </m:r>
                              </m:e>
                              <m:e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</a:rPr>
                                  <m:t>547</m:t>
                                </m:r>
                                <m:r>
                                  <a:rPr lang="id-ID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id-ID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d-ID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id-ID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id-ID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d-ID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id-ID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d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id-ID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d-ID" dirty="0"/>
              </a:p>
              <a:p>
                <a:pPr marL="0" indent="0">
                  <a:buNone/>
                </a:pPr>
                <a:endParaRPr lang="id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id-ID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id-ID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]</m:t>
                      </m:r>
                      <m:d>
                        <m:dPr>
                          <m:begChr m:val="["/>
                          <m:endChr m:val="]"/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d-ID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d-ID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8C0AA-DDA3-43AD-81E2-29CBA04E6A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1ECB4-CA20-484B-83FF-A859E1F1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1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773" y="1600200"/>
            <a:ext cx="603445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218B05-395A-4DCE-BC0E-2FF9D17DD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8</a:t>
            </a:fld>
            <a:endParaRPr lang="id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0974C-BDD4-4D7D-AA77-D86B0CC4B67E}"/>
              </a:ext>
            </a:extLst>
          </p:cNvPr>
          <p:cNvSpPr txBox="1"/>
          <p:nvPr/>
        </p:nvSpPr>
        <p:spPr>
          <a:xfrm>
            <a:off x="3779912" y="4221088"/>
            <a:ext cx="4138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>
                <a:solidFill>
                  <a:srgbClr val="FF0000"/>
                </a:solidFill>
              </a:rPr>
              <a:t>Hariott’s method actually works very well!</a:t>
            </a:r>
          </a:p>
        </p:txBody>
      </p:sp>
    </p:spTree>
    <p:extLst>
      <p:ext uri="{BB962C8B-B14F-4D97-AF65-F5344CB8AC3E}">
        <p14:creationId xmlns:p14="http://schemas.microsoft.com/office/powerpoint/2010/main" val="4263335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661A-6FBC-415F-B2C0-586A8883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Further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6E48-EAF8-4426-8E45-49F9DC885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What can we do with this vibratory model?</a:t>
            </a:r>
          </a:p>
          <a:p>
            <a:pPr lvl="1"/>
            <a:r>
              <a:rPr lang="id-ID" dirty="0"/>
              <a:t>Think of something, write them down in your report.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DE9A1-6018-4C79-9960-EADA7A9B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0441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9EB8-038F-4919-BB37-C79345FE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F7DC6-0AF9-482B-A29F-924EB573D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d-ID" dirty="0"/>
              <a:t>Apply a step input to your system, i.e. 50% PWM input</a:t>
            </a:r>
          </a:p>
          <a:p>
            <a:r>
              <a:rPr lang="id-ID" dirty="0"/>
              <a:t>Log both data, input and output. It is also recommended to log the time.</a:t>
            </a:r>
          </a:p>
          <a:p>
            <a:r>
              <a:rPr lang="id-ID" dirty="0"/>
              <a:t>Check the provided m-files: for the Hariott method and for the optimization process.</a:t>
            </a:r>
          </a:p>
          <a:p>
            <a:r>
              <a:rPr lang="id-ID" dirty="0"/>
              <a:t>With the found parameters, simulate the system side-by-side with the actual system. Apply any arbitrary input and observe the output.</a:t>
            </a: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FB332-E616-4110-9E96-7EFA8BD8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10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8178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17C6C-BD35-468A-AC24-0B51058E4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E32EC-C589-449C-9C19-0B414CA23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Calculate the RMS eror between the simulation and the real system. Provide the plots in your report. Report the parameters of your system too.</a:t>
            </a:r>
          </a:p>
          <a:p>
            <a:r>
              <a:rPr lang="id-ID" dirty="0"/>
              <a:t>A Google sheet will be provided where everyone can report their parameters. We will see how different these parameters are among groups.</a:t>
            </a:r>
          </a:p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78FCF-0FB7-44E3-A817-829F2300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9F2F-089D-4DCC-8F7D-C9C922ECE4DB}" type="slidenum">
              <a:rPr lang="id-ID" smtClean="0"/>
              <a:t>11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0575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455</Words>
  <Application>Microsoft Office PowerPoint</Application>
  <PresentationFormat>On-screen Show (4:3)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Modelling a Thermal Response as 1-DOF Vibratory System</vt:lpstr>
      <vt:lpstr>Intended Learning Outcomes</vt:lpstr>
      <vt:lpstr>1-DOF Vibartory System</vt:lpstr>
      <vt:lpstr>Hariott’s Method for an Overdamped Second Order System</vt:lpstr>
      <vt:lpstr>Parameter Optimization for the Vibratory System</vt:lpstr>
      <vt:lpstr>The Optimized Parameters</vt:lpstr>
      <vt:lpstr>State-Space Form</vt:lpstr>
      <vt:lpstr>PowerPoint Presentation</vt:lpstr>
      <vt:lpstr>Further Ideas</vt:lpstr>
      <vt:lpstr>Activity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a Thermal Response as n n degree-of-freedom vibratory system</dc:title>
  <dc:creator>Lenovo</dc:creator>
  <cp:lastModifiedBy>Lenovo</cp:lastModifiedBy>
  <cp:revision>19</cp:revision>
  <dcterms:created xsi:type="dcterms:W3CDTF">2020-06-16T14:34:17Z</dcterms:created>
  <dcterms:modified xsi:type="dcterms:W3CDTF">2020-06-17T13:24:28Z</dcterms:modified>
</cp:coreProperties>
</file>
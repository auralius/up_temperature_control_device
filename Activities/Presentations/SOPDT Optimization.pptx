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14"/>
  </p:notesMasterIdLst>
  <p:sldIdLst>
    <p:sldId id="256" r:id="rId2"/>
    <p:sldId id="262" r:id="rId3"/>
    <p:sldId id="257" r:id="rId4"/>
    <p:sldId id="258" r:id="rId5"/>
    <p:sldId id="259" r:id="rId6"/>
    <p:sldId id="261" r:id="rId7"/>
    <p:sldId id="264" r:id="rId8"/>
    <p:sldId id="260" r:id="rId9"/>
    <p:sldId id="267" r:id="rId10"/>
    <p:sldId id="263" r:id="rId11"/>
    <p:sldId id="265" r:id="rId12"/>
    <p:sldId id="266" r:id="rId13"/>
  </p:sldIdLst>
  <p:sldSz cx="9144000" cy="6858000" type="screen4x3"/>
  <p:notesSz cx="6858000" cy="9144000"/>
  <p:defaultTextStyle>
    <a:defPPr>
      <a:defRPr lang="id-ID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0597" autoAdjust="0"/>
  </p:normalViewPr>
  <p:slideViewPr>
    <p:cSldViewPr>
      <p:cViewPr varScale="1">
        <p:scale>
          <a:sx n="63" d="100"/>
          <a:sy n="63" d="100"/>
        </p:scale>
        <p:origin x="1512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d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7D2713-7E41-4F19-935D-43CE91CC1DCC}" type="datetimeFigureOut">
              <a:rPr lang="id-ID" smtClean="0"/>
              <a:t>18/06/2020</a:t>
            </a:fld>
            <a:endParaRPr lang="id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d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d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E6A579-7F26-40D7-A53A-8DF0E00DA7E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206302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B9713-A7A7-47AB-ACA5-E2B755792B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097ED-B072-46E5-91AE-6FE8F59ED1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6C5076-E549-4E40-AE91-0557866DD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594CB-B6E1-40F2-A96C-098D7E152D8D}" type="datetime1">
              <a:rPr lang="id-ID" smtClean="0"/>
              <a:t>18/06/2020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F33C86-D7B8-4FBD-B282-C1D4B791D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2A8370-F11F-409F-842F-2D5342188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851751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2182E-E31A-4ED3-9F01-B5E3349A8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9F975-397F-4958-91C6-612C1A0A2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027EA-AF6A-4397-837F-23F79493A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CE307-A98E-4AD9-9F26-6E28005044CF}" type="datetime1">
              <a:rPr lang="id-ID" smtClean="0"/>
              <a:t>18/06/2020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7DFBD0-00AD-4C70-BD6B-A1F80A4DC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6B0274-B928-4D92-A9C1-EB0B49492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544471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EE850-EB0D-4243-9C71-2CB3B65C13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DB9AB0-4D01-47E5-B302-60C176AC11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BC9BF-0679-4770-9A8B-F247C93541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D6ACB8-8078-4239-AB0C-F1770CD2DACB}" type="datetime1">
              <a:rPr lang="id-ID" smtClean="0"/>
              <a:t>18/06/2020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AEE184-255D-4293-8332-8A1EFC72E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6460DC-47CB-4571-A738-CBDD8EDD2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25260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A9479-8882-40D8-A6BB-AF3D4A303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C9B709-D93E-4FC8-B5B4-153C6AE347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3BF386-1D6A-4189-9C44-43436C403F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61606B-8877-49B3-8FF0-C0C178965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11B94-F858-41B7-8F99-6301C0B7EE88}" type="datetime1">
              <a:rPr lang="id-ID" smtClean="0"/>
              <a:t>18/06/2020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4D7CC7-23D2-45D7-8566-AE7781044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FD1A49-D715-487D-9B75-7A71DEC57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6129825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A72DE-22AC-4ABE-964F-25468E9E7C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55A164-2D61-4893-95F5-C62A5C952A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6C692D-2DA6-4846-8669-CFDEEE3C7E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3C6FA6-967E-47DD-AE1F-984B1A1421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082D04-D211-428E-A57C-635B730127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AACEB0-814C-4ADE-9E31-6B5F7DD8CF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82ADA2-4FAF-45B5-97D4-138401DFB93B}" type="datetime1">
              <a:rPr lang="id-ID" smtClean="0"/>
              <a:t>18/06/2020</a:t>
            </a:fld>
            <a:endParaRPr lang="id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8190FB-4905-45F4-9866-6593F38A2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57A1EF-002D-41C8-9F8E-2F8B1E0C1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0129815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EED36-9165-4C0B-8544-0B4211744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C39871-E7F1-41D3-9C19-6CAFCD743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995EC-E8A3-458E-9386-98670D64A019}" type="datetime1">
              <a:rPr lang="id-ID" smtClean="0"/>
              <a:t>18/06/2020</a:t>
            </a:fld>
            <a:endParaRPr lang="id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6D927D-CC3A-4440-A9A4-5E327BC7F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A55068-0D64-4207-A434-FC69FC71D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709769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2A3D48-CF5C-4C5D-AC8A-378FD3450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52BCB-B62E-46E2-BD0F-7E16F5EEB3AC}" type="datetime1">
              <a:rPr lang="id-ID" smtClean="0"/>
              <a:t>18/06/2020</a:t>
            </a:fld>
            <a:endParaRPr lang="id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2857F4-A6D3-4684-81A6-697DFF35E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C1642E-F6B5-4907-94F9-3F731830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886277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F238B-F0AF-4505-A61E-2E0CE1D8A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A8421-03A5-4983-83BC-A47CA17D19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695082-03BC-4466-B28B-52F09B820A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40CE21-EC12-462A-B524-702D42DA7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444D9-1C33-40FC-96C1-BDE98881B8D4}" type="datetime1">
              <a:rPr lang="id-ID" smtClean="0"/>
              <a:t>18/06/2020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8A9CAD-F1C7-462F-8BBC-4C4C1E18E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0CC2F6-9104-4C8F-A8D7-7F42EC715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136838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B15B3-E5F3-4660-8AFB-6A3F1D828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3B45DB-A054-42B8-9C34-63AB9D9B4D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55061F-B48A-4B8E-ACE7-4A2B5451DF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EF03C0-FC6D-436C-984E-E15FEB092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C5256-660B-4989-84EC-CE67CE4F7551}" type="datetime1">
              <a:rPr lang="id-ID" smtClean="0"/>
              <a:t>18/06/2020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02E8A9-F1A6-42A4-B4A8-90CFCE9F9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FFB1DD-0EDF-4199-B858-9F87934ED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9639361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08BB4-67AE-44AE-854C-1954838EA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4658FB-F1DD-48B8-828B-EB602B4CD4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26038E-EE27-462D-9751-C61551497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FF31AE-7E83-4051-921C-AF3F8D575BC5}" type="datetime1">
              <a:rPr lang="id-ID" smtClean="0"/>
              <a:t>18/06/2020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576C17-E0BA-4DE8-9176-54D91F239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A7CCD0-DA7E-4251-A881-4F6D2D1A8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124332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CE603F-B41A-4BB4-BB26-13737DF235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181F7F-831D-4EBC-B796-FA4D862109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0525E4-2311-45CD-8BB3-10FD2EBF2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CC458-75DB-4CD5-97E4-FE96F9D71AC9}" type="datetime1">
              <a:rPr lang="id-ID" smtClean="0"/>
              <a:t>18/06/2020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1E722-E6D0-4B57-A664-8940A401E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95E4A4-867B-4CF4-80CA-B6FD78A5A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393882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2E3B2B-13B4-4B6F-8F71-A63902324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E34797-A2DB-4686-AC64-B725256605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D3EF9B-DC2A-46C2-A48F-65623EE51F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8825A0-EDD3-4F4D-9FB7-9573B5EAB38C}" type="datetime1">
              <a:rPr lang="id-ID" smtClean="0"/>
              <a:t>18/06/2020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288D7F-2ED9-4C36-A1E8-B25994B5BF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CD3294-A952-4A59-BC8E-8D7827E60D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896369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d-ID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id-ID" dirty="0"/>
              <a:t>Modelling a Thermal Response as</a:t>
            </a:r>
            <a:r>
              <a:rPr lang="en-US" dirty="0"/>
              <a:t> </a:t>
            </a:r>
            <a:r>
              <a:rPr lang="id-ID" dirty="0"/>
              <a:t>1-DOF Vibratory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id-ID" dirty="0"/>
              <a:t>ME</a:t>
            </a:r>
          </a:p>
          <a:p>
            <a:r>
              <a:rPr lang="id-ID" dirty="0"/>
              <a:t>Universtitas Pertamina</a:t>
            </a:r>
          </a:p>
          <a:p>
            <a:r>
              <a:rPr lang="id-ID" dirty="0"/>
              <a:t>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D7789-7F40-43FD-B35F-8F886239B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1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122153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8094B-9EF6-4F24-A55D-2EEB75F60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Intended 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43B8C0-F47A-450C-96D0-8F53BA6E24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d-ID" dirty="0"/>
              <a:t>Students can derive the mathematical model of a thermal system by using data-driven methods.</a:t>
            </a:r>
          </a:p>
          <a:p>
            <a:endParaRPr lang="id-ID" dirty="0"/>
          </a:p>
          <a:p>
            <a:r>
              <a:rPr lang="id-ID" dirty="0"/>
              <a:t>Students can simulate a thermal system and compare the simulation to the real process.</a:t>
            </a:r>
          </a:p>
          <a:p>
            <a:endParaRPr lang="id-ID" dirty="0"/>
          </a:p>
          <a:p>
            <a:r>
              <a:rPr lang="id-ID" dirty="0"/>
              <a:t>Student can analyze the derived model and gain knowledge on the real system through the model.</a:t>
            </a:r>
          </a:p>
          <a:p>
            <a:pPr marL="0" indent="0">
              <a:buNone/>
            </a:pPr>
            <a:endParaRPr lang="id-ID" dirty="0"/>
          </a:p>
          <a:p>
            <a:r>
              <a:rPr lang="id-ID" dirty="0"/>
              <a:t>Students can understand the analogy of a vibratory system and a thermal system.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C4A7C0-B797-40ED-AD23-49A55239E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2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0525517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>
                <a:latin typeface="Cambria Math"/>
              </a:rPr>
              <a:t>1-DOF Vibartory System</a:t>
            </a:r>
            <a:endParaRPr lang="id-ID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id-ID" dirty="0">
                    <a:latin typeface="Cambria Math"/>
                  </a:rPr>
                  <a:t>A 1-DOF vibartory system with input delay:</a:t>
                </a:r>
              </a:p>
              <a:p>
                <a:pPr marL="0" indent="0">
                  <a:buNone/>
                </a:pPr>
                <a:endParaRPr lang="id-ID" b="0" dirty="0">
                  <a:latin typeface="Cambria Math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d-ID" b="0" i="1" smtClean="0">
                          <a:latin typeface="Cambria Math"/>
                        </a:rPr>
                        <m:t>𝑀</m:t>
                      </m:r>
                      <m:f>
                        <m:fPr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id-ID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d-ID" b="0" i="1" smtClean="0">
                                  <a:latin typeface="Cambria Math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id-ID" b="0" i="1" smtClean="0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id-ID" b="0" i="1" smtClean="0">
                              <a:latin typeface="Cambria Math"/>
                            </a:rPr>
                            <m:t>𝑇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(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𝑡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id-ID" b="0" i="1" smtClean="0">
                              <a:latin typeface="Cambria Math"/>
                            </a:rPr>
                            <m:t>𝑑𝑡</m:t>
                          </m:r>
                        </m:den>
                      </m:f>
                      <m:r>
                        <a:rPr lang="id-ID" b="0" i="1" smtClean="0">
                          <a:latin typeface="Cambria Math"/>
                        </a:rPr>
                        <m:t>+</m:t>
                      </m:r>
                      <m:r>
                        <a:rPr lang="id-ID" b="0" i="1" smtClean="0">
                          <a:latin typeface="Cambria Math"/>
                        </a:rPr>
                        <m:t>𝐵</m:t>
                      </m:r>
                      <m:f>
                        <m:fPr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d-ID" b="0" i="1" smtClean="0">
                              <a:latin typeface="Cambria Math"/>
                            </a:rPr>
                            <m:t>𝑑𝑇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(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𝑡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id-ID" b="0" i="1" smtClean="0">
                              <a:latin typeface="Cambria Math"/>
                            </a:rPr>
                            <m:t>𝑑𝑡</m:t>
                          </m:r>
                        </m:den>
                      </m:f>
                      <m:r>
                        <a:rPr lang="id-ID" b="0" i="1" smtClean="0">
                          <a:latin typeface="Cambria Math"/>
                        </a:rPr>
                        <m:t>+</m:t>
                      </m:r>
                      <m:r>
                        <a:rPr lang="id-ID" b="0" i="1" smtClean="0">
                          <a:latin typeface="Cambria Math"/>
                        </a:rPr>
                        <m:t>𝐾𝑇</m:t>
                      </m:r>
                      <m:r>
                        <a:rPr lang="id-ID" b="0" i="1" smtClean="0">
                          <a:latin typeface="Cambria Math"/>
                        </a:rPr>
                        <m:t>=</m:t>
                      </m:r>
                      <m:r>
                        <a:rPr lang="id-ID" b="0" i="1" smtClean="0">
                          <a:latin typeface="Cambria Math"/>
                        </a:rPr>
                        <m:t>𝑢</m:t>
                      </m:r>
                      <m:d>
                        <m:dPr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d-ID" b="0" i="1" smtClean="0">
                              <a:latin typeface="Cambria Math"/>
                            </a:rPr>
                            <m:t>𝑡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−</m:t>
                          </m:r>
                          <m:r>
                            <a:rPr lang="id-ID" b="0" i="1" smtClean="0">
                              <a:latin typeface="Cambria Math"/>
                              <a:ea typeface="Cambria Math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id-ID" b="0" dirty="0">
                  <a:ea typeface="Cambria Math"/>
                </a:endParaRPr>
              </a:p>
              <a:p>
                <a:pPr marL="0" indent="0">
                  <a:buNone/>
                </a:pPr>
                <a:endParaRPr lang="id-ID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852" t="-1752"/>
                </a:stretch>
              </a:blipFill>
            </p:spPr>
            <p:txBody>
              <a:bodyPr/>
              <a:lstStyle/>
              <a:p>
                <a:r>
                  <a:rPr lang="id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656A3E-7F32-4CBD-9BF8-1F6A28A10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3</a:t>
            </a:fld>
            <a:endParaRPr lang="id-ID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DB8AE18-C41A-4634-88F4-527DB7D12904}"/>
              </a:ext>
            </a:extLst>
          </p:cNvPr>
          <p:cNvGrpSpPr/>
          <p:nvPr/>
        </p:nvGrpSpPr>
        <p:grpSpPr>
          <a:xfrm>
            <a:off x="2339752" y="4149080"/>
            <a:ext cx="4693075" cy="2159645"/>
            <a:chOff x="2339752" y="4149080"/>
            <a:chExt cx="4693075" cy="215964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380C615-791B-499D-87EB-8EC54245AC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339752" y="4149080"/>
              <a:ext cx="4693075" cy="215964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A7AAE51D-0BC9-4E57-B38C-D0A6FE3496D4}"/>
                    </a:ext>
                  </a:extLst>
                </p:cNvPr>
                <p:cNvSpPr/>
                <p:nvPr/>
              </p:nvSpPr>
              <p:spPr>
                <a:xfrm>
                  <a:off x="5652120" y="4725144"/>
                  <a:ext cx="1077346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d-ID" i="1">
                            <a:latin typeface="Cambria Math"/>
                          </a:rPr>
                          <m:t>𝑢</m:t>
                        </m:r>
                        <m:d>
                          <m:dPr>
                            <m:ctrlPr>
                              <a:rPr lang="id-ID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d-ID" i="1">
                                <a:latin typeface="Cambria Math"/>
                              </a:rPr>
                              <m:t>𝑡</m:t>
                            </m:r>
                            <m:r>
                              <a:rPr lang="id-ID" i="1">
                                <a:latin typeface="Cambria Math"/>
                              </a:rPr>
                              <m:t>−</m:t>
                            </m:r>
                            <m:r>
                              <a:rPr lang="id-ID" i="1">
                                <a:latin typeface="Cambria Math"/>
                                <a:ea typeface="Cambria Math"/>
                              </a:rPr>
                              <m:t>𝜃</m:t>
                            </m:r>
                          </m:e>
                        </m:d>
                      </m:oMath>
                    </m:oMathPara>
                  </a14:m>
                  <a:endParaRPr lang="id-ID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A7AAE51D-0BC9-4E57-B38C-D0A6FE3496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52120" y="4725144"/>
                  <a:ext cx="107734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d-ID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598108C-D924-474C-B08B-A75B977A7F2F}"/>
                    </a:ext>
                  </a:extLst>
                </p:cNvPr>
                <p:cNvSpPr/>
                <p:nvPr/>
              </p:nvSpPr>
              <p:spPr>
                <a:xfrm>
                  <a:off x="4572000" y="5044236"/>
                  <a:ext cx="440377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d-ID" i="1">
                            <a:latin typeface="Cambria Math"/>
                          </a:rPr>
                          <m:t>𝑀</m:t>
                        </m:r>
                      </m:oMath>
                    </m:oMathPara>
                  </a14:m>
                  <a:endParaRPr lang="id-ID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598108C-D924-474C-B08B-A75B977A7F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2000" y="5044236"/>
                  <a:ext cx="440377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d-ID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306E0190-FE99-4867-BB42-13A9D631C732}"/>
                    </a:ext>
                  </a:extLst>
                </p:cNvPr>
                <p:cNvSpPr/>
                <p:nvPr/>
              </p:nvSpPr>
              <p:spPr>
                <a:xfrm>
                  <a:off x="3234654" y="5517232"/>
                  <a:ext cx="39607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d-ID" i="1">
                            <a:latin typeface="Cambria Math"/>
                          </a:rPr>
                          <m:t>𝐵</m:t>
                        </m:r>
                      </m:oMath>
                    </m:oMathPara>
                  </a14:m>
                  <a:endParaRPr lang="id-ID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306E0190-FE99-4867-BB42-13A9D631C7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4654" y="5517232"/>
                  <a:ext cx="39607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d-ID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DA86C1DC-67C7-43F9-82E3-E0851322924F}"/>
                    </a:ext>
                  </a:extLst>
                </p:cNvPr>
                <p:cNvSpPr/>
                <p:nvPr/>
              </p:nvSpPr>
              <p:spPr>
                <a:xfrm>
                  <a:off x="3224267" y="4410564"/>
                  <a:ext cx="406457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d-ID" i="1">
                            <a:latin typeface="Cambria Math"/>
                          </a:rPr>
                          <m:t>𝐾</m:t>
                        </m:r>
                      </m:oMath>
                    </m:oMathPara>
                  </a14:m>
                  <a:endParaRPr lang="id-ID" dirty="0"/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DA86C1DC-67C7-43F9-82E3-E0851322924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4267" y="4410564"/>
                  <a:ext cx="406457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d-ID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4A452AC-C8B1-4D29-8AFF-2364829D89EA}"/>
                </a:ext>
              </a:extLst>
            </p:cNvPr>
            <p:cNvCxnSpPr/>
            <p:nvPr/>
          </p:nvCxnSpPr>
          <p:spPr>
            <a:xfrm>
              <a:off x="4716016" y="6021288"/>
              <a:ext cx="93610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D24A42E-556F-4C2B-BEB0-3B0E04B1EB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16016" y="5517233"/>
              <a:ext cx="0" cy="50405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E5F2CA9A-9B13-4856-9944-E5C311BBE224}"/>
                    </a:ext>
                  </a:extLst>
                </p:cNvPr>
                <p:cNvSpPr/>
                <p:nvPr/>
              </p:nvSpPr>
              <p:spPr>
                <a:xfrm>
                  <a:off x="5611064" y="5776959"/>
                  <a:ext cx="380489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d-ID" i="1">
                            <a:latin typeface="Cambria Math"/>
                          </a:rPr>
                          <m:t>𝑇</m:t>
                        </m:r>
                      </m:oMath>
                    </m:oMathPara>
                  </a14:m>
                  <a:endParaRPr lang="id-ID" dirty="0"/>
                </a:p>
              </p:txBody>
            </p:sp>
          </mc:Choice>
          <mc:Fallback xmlns="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E5F2CA9A-9B13-4856-9944-E5C311BBE22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1064" y="5776959"/>
                  <a:ext cx="380489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d-ID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96993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d-ID" dirty="0"/>
              <a:t>Hariott’s Method for an Overdamped Second Order System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id-ID" dirty="0"/>
                  <a:t>Hariott’s method for the inital guess:</a:t>
                </a:r>
              </a:p>
              <a:p>
                <a:endParaRPr lang="id-ID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id-ID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d-ID" b="0" i="1" smtClean="0">
                              <a:latin typeface="Cambria Math"/>
                            </a:rPr>
                            <m:t>𝑇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(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id-ID" b="0" i="1" smtClean="0">
                              <a:latin typeface="Cambria Math"/>
                            </a:rPr>
                            <m:t>𝑈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(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)</m:t>
                          </m:r>
                        </m:den>
                      </m:f>
                      <m:r>
                        <a:rPr lang="id-ID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id-ID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d-ID" b="0" i="1" smtClean="0">
                                  <a:latin typeface="Cambria Math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id-ID" b="0" i="1" smtClean="0">
                                  <a:latin typeface="Cambria Math"/>
                                </a:rPr>
                                <m:t>−</m:t>
                              </m:r>
                              <m:r>
                                <a:rPr lang="id-ID" b="0" i="1" smtClean="0">
                                  <a:latin typeface="Cambria Math"/>
                                </a:rPr>
                                <m:t>𝐿𝑠</m:t>
                              </m:r>
                            </m:sup>
                          </m:sSup>
                          <m:sSub>
                            <m:sSubPr>
                              <m:ctrlPr>
                                <a:rPr lang="id-ID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d-ID" b="0" i="1" smtClean="0">
                                  <a:latin typeface="Cambria Math"/>
                                </a:rPr>
                                <m:t> </m:t>
                              </m:r>
                              <m:r>
                                <a:rPr lang="id-ID" b="0" i="1" smtClean="0">
                                  <a:latin typeface="Cambria Math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id-ID" b="0" i="1" smtClean="0">
                                  <a:latin typeface="Cambria Math"/>
                                </a:rPr>
                                <m:t>𝑠𝑠</m:t>
                              </m:r>
                            </m:sub>
                          </m:sSub>
                        </m:num>
                        <m:den>
                          <m:r>
                            <a:rPr lang="id-ID" b="0" i="1" smtClean="0">
                              <a:latin typeface="Cambria Math"/>
                            </a:rPr>
                            <m:t>(</m:t>
                          </m:r>
                          <m:sSub>
                            <m:sSubPr>
                              <m:ctrlPr>
                                <a:rPr lang="id-ID" b="0" i="1" smtClean="0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id-ID" b="0" i="1" smtClean="0">
                                  <a:latin typeface="Cambria Math"/>
                                  <a:ea typeface="Cambria Math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id-ID" b="0" i="1" smtClean="0">
                                  <a:latin typeface="Cambria Math"/>
                                  <a:ea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a:rPr lang="id-ID" b="0" i="1" smtClean="0">
                              <a:latin typeface="Cambria Math"/>
                              <a:ea typeface="Cambria Math"/>
                            </a:rPr>
                            <m:t>𝑠</m:t>
                          </m:r>
                          <m:r>
                            <a:rPr lang="id-ID" b="0" i="1" smtClean="0">
                              <a:latin typeface="Cambria Math"/>
                              <a:ea typeface="Cambria Math"/>
                            </a:rPr>
                            <m:t>+1)(</m:t>
                          </m:r>
                          <m:sSub>
                            <m:sSubPr>
                              <m:ctrlPr>
                                <a:rPr lang="id-ID" b="0" i="1" smtClean="0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id-ID" b="0" i="1" smtClean="0">
                                  <a:latin typeface="Cambria Math"/>
                                  <a:ea typeface="Cambria Math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id-ID" b="0" i="1" smtClean="0">
                                  <a:latin typeface="Cambria Math"/>
                                  <a:ea typeface="Cambria Math"/>
                                </a:rPr>
                                <m:t>2</m:t>
                              </m:r>
                            </m:sub>
                          </m:sSub>
                          <m:r>
                            <a:rPr lang="id-ID" b="0" i="1" smtClean="0">
                              <a:latin typeface="Cambria Math"/>
                              <a:ea typeface="Cambria Math"/>
                            </a:rPr>
                            <m:t>𝑠</m:t>
                          </m:r>
                          <m:r>
                            <a:rPr lang="id-ID" b="0" i="1" smtClean="0">
                              <a:latin typeface="Cambria Math"/>
                              <a:ea typeface="Cambria Math"/>
                            </a:rPr>
                            <m:t>+1)</m:t>
                          </m:r>
                        </m:den>
                      </m:f>
                    </m:oMath>
                  </m:oMathPara>
                </a14:m>
                <a:endParaRPr lang="id-ID" b="0" dirty="0"/>
              </a:p>
              <a:p>
                <a:pPr marL="457200" lvl="1" indent="0">
                  <a:buNone/>
                </a:pPr>
                <a:endParaRPr lang="id-ID" b="0" dirty="0"/>
              </a:p>
              <a:p>
                <a:pPr marL="457200" lvl="1" indent="0">
                  <a:buNone/>
                </a:pPr>
                <a:r>
                  <a:rPr lang="id-ID" dirty="0"/>
                  <a:t>Hariott’s method estimates the </a:t>
                </a:r>
                <a14:m>
                  <m:oMath xmlns:m="http://schemas.openxmlformats.org/officeDocument/2006/math">
                    <m:r>
                      <a:rPr lang="id-ID" b="0" i="1" smtClean="0">
                        <a:latin typeface="Cambria Math"/>
                      </a:rPr>
                      <m:t>𝐿</m:t>
                    </m:r>
                    <m:r>
                      <a:rPr lang="id-ID" b="0" i="1" smtClean="0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id-ID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id-ID" b="0" i="1" smtClean="0">
                            <a:latin typeface="Cambria Math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id-ID" b="0" i="1" smtClean="0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id-ID" b="0" i="1" smtClean="0">
                        <a:latin typeface="Cambria Math"/>
                        <a:ea typeface="Cambria Math"/>
                      </a:rPr>
                      <m:t>,</m:t>
                    </m:r>
                    <m:sSub>
                      <m:sSubPr>
                        <m:ctrlPr>
                          <a:rPr lang="id-ID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id-ID" b="0" i="1" smtClean="0">
                            <a:latin typeface="Cambria Math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id-ID" b="0" i="1" smtClean="0">
                            <a:latin typeface="Cambria Math"/>
                            <a:ea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id-ID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d-ID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id-ID" b="0" i="1" smtClean="0">
                            <a:latin typeface="Cambria Math"/>
                            <a:ea typeface="Cambria Math"/>
                          </a:rPr>
                          <m:t>𝐾</m:t>
                        </m:r>
                      </m:e>
                      <m:sub>
                        <m:r>
                          <a:rPr lang="id-ID" b="0" i="1" smtClean="0">
                            <a:latin typeface="Cambria Math"/>
                            <a:ea typeface="Cambria Math"/>
                          </a:rPr>
                          <m:t>𝑠𝑠</m:t>
                        </m:r>
                      </m:sub>
                    </m:sSub>
                  </m:oMath>
                </a14:m>
                <a:r>
                  <a:rPr lang="id-ID" dirty="0"/>
                  <a:t>.</a:t>
                </a:r>
              </a:p>
              <a:p>
                <a:pPr marL="457200" lvl="1" indent="0">
                  <a:buNone/>
                </a:pPr>
                <a:endParaRPr lang="id-ID" dirty="0"/>
              </a:p>
              <a:p>
                <a:pPr marL="457200" lvl="1" indent="0">
                  <a:buNone/>
                </a:pPr>
                <a:r>
                  <a:rPr lang="id-ID" dirty="0"/>
                  <a:t>The Hariott’s method is quite complicated. A MATLAB script has been provided for this purpose. If there is time available, we shall revisit the Hariott’s method as it is a well known method in industrial process control. 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73" t="-1541"/>
                </a:stretch>
              </a:blipFill>
            </p:spPr>
            <p:txBody>
              <a:bodyPr/>
              <a:lstStyle/>
              <a:p>
                <a:r>
                  <a:rPr lang="id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64C2BC-100A-40F9-94B2-491DCCDB7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4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9333718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d-ID" dirty="0"/>
              <a:t>Parameter Optimization for the Vibratory System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id-ID" dirty="0"/>
                  <a:t>Convert the Hariott’s model into:</a:t>
                </a:r>
              </a:p>
              <a:p>
                <a:endParaRPr lang="id-ID" dirty="0"/>
              </a:p>
              <a:p>
                <a:pPr marL="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id-ID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d-ID" b="0" i="1" smtClean="0">
                              <a:latin typeface="Cambria Math"/>
                            </a:rPr>
                            <m:t>𝑇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(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id-ID" b="0" i="1" smtClean="0">
                              <a:latin typeface="Cambria Math"/>
                            </a:rPr>
                            <m:t>𝑈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(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)</m:t>
                          </m:r>
                        </m:den>
                      </m:f>
                      <m:r>
                        <a:rPr lang="id-ID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id-ID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d-ID" b="0" i="1" smtClean="0">
                                  <a:latin typeface="Cambria Math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id-ID" b="0" i="1" smtClean="0">
                                  <a:latin typeface="Cambria Math"/>
                                </a:rPr>
                                <m:t>−</m:t>
                              </m:r>
                              <m:r>
                                <a:rPr lang="id-ID" b="0" i="1" smtClean="0">
                                  <a:latin typeface="Cambria Math"/>
                                  <a:ea typeface="Cambria Math"/>
                                </a:rPr>
                                <m:t>𝜃</m:t>
                              </m:r>
                              <m:r>
                                <a:rPr lang="id-ID" b="0" i="1" smtClean="0">
                                  <a:latin typeface="Cambria Math"/>
                                </a:rPr>
                                <m:t>𝑠</m:t>
                              </m:r>
                            </m:sup>
                          </m:sSup>
                        </m:num>
                        <m:den>
                          <m:r>
                            <a:rPr lang="id-ID" b="0" i="1" smtClean="0">
                              <a:latin typeface="Cambria Math"/>
                            </a:rPr>
                            <m:t>𝑀</m:t>
                          </m:r>
                          <m:sSup>
                            <m:sSupPr>
                              <m:ctrlPr>
                                <a:rPr lang="id-ID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d-ID" b="0" i="1" smtClean="0">
                                  <a:latin typeface="Cambria Math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id-ID" b="0" i="1" smtClean="0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id-ID" b="0" i="1" smtClean="0">
                              <a:latin typeface="Cambria Math"/>
                            </a:rPr>
                            <m:t>+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𝐵𝑠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+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𝐾</m:t>
                          </m:r>
                        </m:den>
                      </m:f>
                    </m:oMath>
                  </m:oMathPara>
                </a14:m>
                <a:endParaRPr lang="id-ID" b="0" dirty="0"/>
              </a:p>
              <a:p>
                <a:endParaRPr lang="id-ID" dirty="0"/>
              </a:p>
              <a:p>
                <a:r>
                  <a:rPr lang="id-ID" dirty="0"/>
                  <a:t>Use MATLAB unconstrained optimization function to estimate </a:t>
                </a:r>
                <a14:m>
                  <m:oMath xmlns:m="http://schemas.openxmlformats.org/officeDocument/2006/math">
                    <m:r>
                      <a:rPr lang="id-ID" b="0" i="1" smtClean="0">
                        <a:latin typeface="Cambria Math"/>
                      </a:rPr>
                      <m:t>𝑀</m:t>
                    </m:r>
                    <m:r>
                      <a:rPr lang="id-ID" b="0" i="1" smtClean="0">
                        <a:latin typeface="Cambria Math"/>
                      </a:rPr>
                      <m:t>, </m:t>
                    </m:r>
                    <m:r>
                      <a:rPr lang="id-ID" b="0" i="1" smtClean="0">
                        <a:latin typeface="Cambria Math"/>
                      </a:rPr>
                      <m:t>𝐵</m:t>
                    </m:r>
                    <m:r>
                      <a:rPr lang="id-ID" b="0" i="1" smtClean="0">
                        <a:latin typeface="Cambria Math"/>
                      </a:rPr>
                      <m:t>, </m:t>
                    </m:r>
                    <m:r>
                      <a:rPr lang="id-ID" b="0" i="1" smtClean="0">
                        <a:latin typeface="Cambria Math"/>
                      </a:rPr>
                      <m:t>𝐾</m:t>
                    </m:r>
                  </m:oMath>
                </a14:m>
                <a:r>
                  <a:rPr lang="id-ID" dirty="0"/>
                  <a:t> and </a:t>
                </a:r>
                <a14:m>
                  <m:oMath xmlns:m="http://schemas.openxmlformats.org/officeDocument/2006/math">
                    <m:r>
                      <a:rPr lang="id-ID" b="0" i="1" smtClean="0">
                        <a:latin typeface="Cambria Math"/>
                        <a:ea typeface="Cambria Math"/>
                      </a:rPr>
                      <m:t>𝜃</m:t>
                    </m:r>
                  </m:oMath>
                </a14:m>
                <a:r>
                  <a:rPr lang="id-ID" dirty="0"/>
                  <a:t> with the intial values provided by the Hariott’s method.</a:t>
                </a:r>
              </a:p>
              <a:p>
                <a:endParaRPr lang="id-ID" dirty="0"/>
              </a:p>
              <a:p>
                <a:r>
                  <a:rPr lang="id-ID" dirty="0"/>
                  <a:t>A MATLAB script has also been provided for the optimization process.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73" t="-1541" r="-541"/>
                </a:stretch>
              </a:blipFill>
            </p:spPr>
            <p:txBody>
              <a:bodyPr/>
              <a:lstStyle/>
              <a:p>
                <a:r>
                  <a:rPr lang="id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82D9B-1C0A-4D91-8485-F5A8975C5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5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698621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The Optimized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d-ID" i="1" smtClean="0">
                          <a:latin typeface="Cambria Math"/>
                        </a:rPr>
                        <m:t>𝑀</m:t>
                      </m:r>
                      <m:r>
                        <a:rPr lang="id-ID" i="1" smtClean="0">
                          <a:latin typeface="Cambria Math"/>
                        </a:rPr>
                        <m:t>=1622.5 </m:t>
                      </m:r>
                      <m:r>
                        <a:rPr lang="id-ID" b="0" i="1" smtClean="0">
                          <a:latin typeface="Cambria Math" panose="02040503050406030204" pitchFamily="18" charset="0"/>
                        </a:rPr>
                        <m:t>𝑁</m:t>
                      </m:r>
                      <m:sSup>
                        <m:sSupPr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id-ID" b="0" i="1" smtClean="0">
                          <a:latin typeface="Cambria Math" panose="02040503050406030204" pitchFamily="18" charset="0"/>
                        </a:rPr>
                        <m:t>/°</m:t>
                      </m:r>
                      <m:r>
                        <a:rPr lang="id-ID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id-ID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d-ID" b="0" i="1" smtClean="0">
                          <a:latin typeface="Cambria Math"/>
                        </a:rPr>
                        <m:t>𝐵</m:t>
                      </m:r>
                      <m:r>
                        <a:rPr lang="id-ID" b="0" i="1" smtClean="0">
                          <a:latin typeface="Cambria Math"/>
                        </a:rPr>
                        <m:t>=186.8</m:t>
                      </m:r>
                      <m:r>
                        <a:rPr lang="id-ID" i="1">
                          <a:latin typeface="Cambria Math" panose="02040503050406030204" pitchFamily="18" charset="0"/>
                        </a:rPr>
                        <m:t>𝑁𝑠</m:t>
                      </m:r>
                      <m:r>
                        <a:rPr lang="id-ID" i="1">
                          <a:latin typeface="Cambria Math" panose="02040503050406030204" pitchFamily="18" charset="0"/>
                        </a:rPr>
                        <m:t>/°</m:t>
                      </m:r>
                      <m:r>
                        <a:rPr lang="id-ID" i="1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id-ID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d-ID" b="0" i="1" smtClean="0">
                          <a:latin typeface="Cambria Math"/>
                        </a:rPr>
                        <m:t>𝐾</m:t>
                      </m:r>
                      <m:r>
                        <a:rPr lang="id-ID" b="0" i="1" smtClean="0">
                          <a:latin typeface="Cambria Math"/>
                        </a:rPr>
                        <m:t>=0.9 </m:t>
                      </m:r>
                      <m:r>
                        <a:rPr lang="id-ID" i="1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id-ID" i="1">
                          <a:latin typeface="Cambria Math" panose="02040503050406030204" pitchFamily="18" charset="0"/>
                        </a:rPr>
                        <m:t>/°</m:t>
                      </m:r>
                      <m:r>
                        <a:rPr lang="id-ID" i="1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id-ID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d-ID" i="1" smtClean="0">
                          <a:latin typeface="Cambria Math"/>
                          <a:ea typeface="Cambria Math"/>
                        </a:rPr>
                        <m:t>𝜃</m:t>
                      </m:r>
                      <m:r>
                        <a:rPr lang="id-ID" b="0" i="1" smtClean="0">
                          <a:latin typeface="Cambria Math"/>
                          <a:ea typeface="Cambria Math"/>
                        </a:rPr>
                        <m:t>=10.2</m:t>
                      </m:r>
                      <m:r>
                        <a:rPr lang="id-ID" b="0" i="1" smtClean="0">
                          <a:latin typeface="Cambria Math" panose="02040503050406030204" pitchFamily="18" charset="0"/>
                          <a:ea typeface="Cambria Math"/>
                        </a:rPr>
                        <m:t> </m:t>
                      </m:r>
                      <m:r>
                        <a:rPr lang="id-ID" b="0" i="1" smtClean="0">
                          <a:latin typeface="Cambria Math" panose="02040503050406030204" pitchFamily="18" charset="0"/>
                          <a:ea typeface="Cambria Math"/>
                        </a:rPr>
                        <m:t>𝑠</m:t>
                      </m:r>
                    </m:oMath>
                  </m:oMathPara>
                </a14:m>
                <a:endParaRPr lang="id-ID" dirty="0"/>
              </a:p>
              <a:p>
                <a:pPr marL="0" indent="0">
                  <a:buNone/>
                </a:pPr>
                <a:endParaRPr lang="id-ID" dirty="0"/>
              </a:p>
              <a:p>
                <a:pPr marL="0" indent="0">
                  <a:buNone/>
                </a:pPr>
                <a:endParaRPr lang="id-ID" dirty="0"/>
              </a:p>
              <a:p>
                <a:pPr marL="0" indent="0">
                  <a:buNone/>
                </a:pPr>
                <a:endParaRPr lang="id-ID" dirty="0"/>
              </a:p>
              <a:p>
                <a:pPr marL="0" indent="0">
                  <a:buNone/>
                </a:pPr>
                <a:endParaRPr lang="id-ID" dirty="0"/>
              </a:p>
              <a:p>
                <a:pPr marL="0" indent="0">
                  <a:buNone/>
                </a:pPr>
                <a:r>
                  <a:rPr lang="id-ID" dirty="0"/>
                  <a:t>Do the units look funny?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7"/>
                </a:stretch>
              </a:blipFill>
            </p:spPr>
            <p:txBody>
              <a:bodyPr/>
              <a:lstStyle/>
              <a:p>
                <a:r>
                  <a:rPr lang="id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77472C-BD8E-424E-B8F9-EE6C4A05B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6</a:t>
            </a:fld>
            <a:endParaRPr lang="id-ID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F465AD2-1CCB-432A-B434-9BBA599007DE}"/>
              </a:ext>
            </a:extLst>
          </p:cNvPr>
          <p:cNvGrpSpPr/>
          <p:nvPr/>
        </p:nvGrpSpPr>
        <p:grpSpPr>
          <a:xfrm>
            <a:off x="2544316" y="3441976"/>
            <a:ext cx="4055367" cy="1866187"/>
            <a:chOff x="2339752" y="4149080"/>
            <a:chExt cx="4693075" cy="215964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6C7E4F1-C68F-4E8A-A706-4C74A4B3E1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339752" y="4149080"/>
              <a:ext cx="4693075" cy="215964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DFEC96D0-3F2B-4D4D-BC2C-6C471CAAC1E7}"/>
                    </a:ext>
                  </a:extLst>
                </p:cNvPr>
                <p:cNvSpPr/>
                <p:nvPr/>
              </p:nvSpPr>
              <p:spPr>
                <a:xfrm>
                  <a:off x="5652120" y="4725144"/>
                  <a:ext cx="1077346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d-ID" i="1">
                            <a:latin typeface="Cambria Math"/>
                          </a:rPr>
                          <m:t>𝑢</m:t>
                        </m:r>
                        <m:d>
                          <m:dPr>
                            <m:ctrlPr>
                              <a:rPr lang="id-ID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d-ID" i="1">
                                <a:latin typeface="Cambria Math"/>
                              </a:rPr>
                              <m:t>𝑡</m:t>
                            </m:r>
                            <m:r>
                              <a:rPr lang="id-ID" i="1">
                                <a:latin typeface="Cambria Math"/>
                              </a:rPr>
                              <m:t>−</m:t>
                            </m:r>
                            <m:r>
                              <a:rPr lang="id-ID" i="1">
                                <a:latin typeface="Cambria Math"/>
                                <a:ea typeface="Cambria Math"/>
                              </a:rPr>
                              <m:t>𝜃</m:t>
                            </m:r>
                          </m:e>
                        </m:d>
                      </m:oMath>
                    </m:oMathPara>
                  </a14:m>
                  <a:endParaRPr lang="id-ID" dirty="0"/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DFEC96D0-3F2B-4D4D-BC2C-6C471CAAC1E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52120" y="4725144"/>
                  <a:ext cx="1077346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5660"/>
                  </a:stretch>
                </a:blipFill>
              </p:spPr>
              <p:txBody>
                <a:bodyPr/>
                <a:lstStyle/>
                <a:p>
                  <a:r>
                    <a:rPr lang="id-ID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BED3538-4DF4-4662-8539-4C1F8812A2E2}"/>
                    </a:ext>
                  </a:extLst>
                </p:cNvPr>
                <p:cNvSpPr/>
                <p:nvPr/>
              </p:nvSpPr>
              <p:spPr>
                <a:xfrm>
                  <a:off x="4572000" y="5044236"/>
                  <a:ext cx="440377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d-ID" i="1">
                            <a:latin typeface="Cambria Math"/>
                          </a:rPr>
                          <m:t>𝑀</m:t>
                        </m:r>
                      </m:oMath>
                    </m:oMathPara>
                  </a14:m>
                  <a:endParaRPr lang="id-ID" dirty="0"/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BED3538-4DF4-4662-8539-4C1F8812A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2000" y="5044236"/>
                  <a:ext cx="44037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id-ID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EFD02E67-289D-45B4-99A8-240579E401A9}"/>
                    </a:ext>
                  </a:extLst>
                </p:cNvPr>
                <p:cNvSpPr/>
                <p:nvPr/>
              </p:nvSpPr>
              <p:spPr>
                <a:xfrm>
                  <a:off x="3234654" y="5517232"/>
                  <a:ext cx="39607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d-ID" i="1">
                            <a:latin typeface="Cambria Math"/>
                          </a:rPr>
                          <m:t>𝐵</m:t>
                        </m:r>
                      </m:oMath>
                    </m:oMathPara>
                  </a14:m>
                  <a:endParaRPr lang="id-ID" dirty="0"/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EFD02E67-289D-45B4-99A8-240579E401A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4654" y="5517232"/>
                  <a:ext cx="396070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id-ID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C6C749E-69B7-4AB7-A659-0CE2F1CDC96A}"/>
                    </a:ext>
                  </a:extLst>
                </p:cNvPr>
                <p:cNvSpPr/>
                <p:nvPr/>
              </p:nvSpPr>
              <p:spPr>
                <a:xfrm>
                  <a:off x="3224267" y="4410564"/>
                  <a:ext cx="406457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d-ID" i="1">
                            <a:latin typeface="Cambria Math"/>
                          </a:rPr>
                          <m:t>𝐾</m:t>
                        </m:r>
                      </m:oMath>
                    </m:oMathPara>
                  </a14:m>
                  <a:endParaRPr lang="id-ID" dirty="0"/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C6C749E-69B7-4AB7-A659-0CE2F1CDC9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4267" y="4410564"/>
                  <a:ext cx="406457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id-ID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979187E-1322-45C9-9D1A-047B269DE781}"/>
                </a:ext>
              </a:extLst>
            </p:cNvPr>
            <p:cNvCxnSpPr/>
            <p:nvPr/>
          </p:nvCxnSpPr>
          <p:spPr>
            <a:xfrm>
              <a:off x="4716016" y="6021288"/>
              <a:ext cx="93610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3DAC857-DCDF-4016-BF0C-FD3FE63210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16016" y="5517233"/>
              <a:ext cx="0" cy="50405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5C23B509-5E68-40E9-8D90-98C17754A803}"/>
                    </a:ext>
                  </a:extLst>
                </p:cNvPr>
                <p:cNvSpPr/>
                <p:nvPr/>
              </p:nvSpPr>
              <p:spPr>
                <a:xfrm>
                  <a:off x="5611065" y="5776959"/>
                  <a:ext cx="775199" cy="42740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d-ID" i="1" smtClean="0">
                            <a:latin typeface="Cambria Math"/>
                          </a:rPr>
                          <m:t>𝑇</m:t>
                        </m:r>
                        <m:r>
                          <a:rPr lang="id-ID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d-ID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id-ID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id-ID" dirty="0"/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5C23B509-5E68-40E9-8D90-98C17754A80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1065" y="5776959"/>
                  <a:ext cx="775199" cy="427409"/>
                </a:xfrm>
                <a:prstGeom prst="rect">
                  <a:avLst/>
                </a:prstGeom>
                <a:blipFill>
                  <a:blip r:embed="rId8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id-ID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806925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36B37-78C6-437F-8B7C-9BE5FD3D9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State-Space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8C0AA-DDA3-43AD-81E2-29CBA04E6A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id-ID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id-ID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id-ID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id-ID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id-ID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id-ID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d-ID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̈"/>
                                    <m:ctrlPr>
                                      <a:rPr lang="id-ID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id-ID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id-ID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d-ID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mr>
                          </m:m>
                        </m:e>
                      </m:d>
                      <m:r>
                        <a:rPr lang="id-ID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id-ID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id-ID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id-ID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id-ID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id-ID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  <m:r>
                                  <a:rPr lang="id-ID" b="0" i="1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id-ID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e>
                                <m:r>
                                  <a:rPr lang="id-ID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id-ID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lang="id-ID" b="0" i="1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id-ID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id-ID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id-ID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id-ID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d-ID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id-ID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id-ID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id-ID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d-ID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mr>
                          </m:m>
                        </m:e>
                      </m:d>
                      <m:r>
                        <a:rPr lang="id-ID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id-ID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id-ID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id-ID" b="0" i="1" smtClean="0">
                                    <a:latin typeface="Cambria Math" panose="02040503050406030204" pitchFamily="18" charset="0"/>
                                  </a:rPr>
                                  <m:t>1/</m:t>
                                </m:r>
                                <m:r>
                                  <a:rPr lang="id-ID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mr>
                          </m:m>
                        </m:e>
                      </m:d>
                      <m:r>
                        <a:rPr lang="id-ID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d-ID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id-ID" b="0" dirty="0"/>
              </a:p>
              <a:p>
                <a:pPr marL="0" indent="0">
                  <a:buNone/>
                </a:pPr>
                <a:endParaRPr lang="id-ID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id-ID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id-ID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id-ID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id-ID" sz="2400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id-ID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d-ID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̈"/>
                                    <m:ctrlPr>
                                      <a:rPr lang="id-ID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id-ID" sz="2400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id-ID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d-ID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mr>
                          </m:m>
                        </m:e>
                      </m:d>
                      <m:r>
                        <a:rPr lang="id-ID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id-ID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id-ID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id-ID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id-ID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id-ID" sz="2400" b="0" i="1" smtClean="0">
                                    <a:latin typeface="Cambria Math" panose="02040503050406030204" pitchFamily="18" charset="0"/>
                                  </a:rPr>
                                  <m:t>−0.115</m:t>
                                </m:r>
                              </m:e>
                              <m:e>
                                <m:r>
                                  <a:rPr lang="id-ID" sz="2400" b="0" i="1" smtClean="0">
                                    <a:latin typeface="Cambria Math" panose="02040503050406030204" pitchFamily="18" charset="0"/>
                                  </a:rPr>
                                  <m:t>−5.547</m:t>
                                </m:r>
                                <m:r>
                                  <a:rPr lang="id-ID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sSup>
                                  <m:sSupPr>
                                    <m:ctrlPr>
                                      <a:rPr lang="id-ID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id-ID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10</m:t>
                                    </m:r>
                                  </m:e>
                                  <m:sup>
                                    <m:r>
                                      <a:rPr lang="id-ID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d-ID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id-ID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id-ID" sz="24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id-ID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d-ID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id-ID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id-ID" sz="2400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id-ID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d-ID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mr>
                          </m:m>
                        </m:e>
                      </m:d>
                      <m:r>
                        <a:rPr lang="id-ID" sz="24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id-ID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id-ID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id-ID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id-ID" sz="2400" i="1">
                                    <a:latin typeface="Cambria Math" panose="02040503050406030204" pitchFamily="18" charset="0"/>
                                  </a:rPr>
                                  <m:t>6.163</m:t>
                                </m:r>
                                <m:r>
                                  <a:rPr lang="id-ID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sSup>
                                  <m:sSupPr>
                                    <m:ctrlPr>
                                      <a:rPr lang="id-ID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id-ID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10</m:t>
                                    </m:r>
                                  </m:e>
                                  <m:sup>
                                    <m:r>
                                      <a:rPr lang="id-ID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r>
                        <a:rPr lang="id-ID" sz="2400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id-ID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d-ID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id-ID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id-ID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id-ID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d-ID" sz="2400" dirty="0"/>
              </a:p>
              <a:p>
                <a:pPr marL="0" indent="0">
                  <a:buNone/>
                </a:pPr>
                <a:endParaRPr lang="id-ID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d-ID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id-ID" b="0" i="1" smtClean="0">
                          <a:latin typeface="Cambria Math" panose="02040503050406030204" pitchFamily="18" charset="0"/>
                        </a:rPr>
                        <m:t>=[</m:t>
                      </m:r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id-ID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id-ID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</m:m>
                      <m:r>
                        <a:rPr lang="id-ID" b="0" i="1" smtClean="0">
                          <a:latin typeface="Cambria Math" panose="02040503050406030204" pitchFamily="18" charset="0"/>
                        </a:rPr>
                        <m:t>]</m:t>
                      </m:r>
                      <m:d>
                        <m:dPr>
                          <m:begChr m:val="["/>
                          <m:endChr m:val="]"/>
                          <m:ctrlPr>
                            <a:rPr lang="id-ID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id-ID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id-ID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id-ID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d-ID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id-ID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id-ID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id-ID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d-ID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id-ID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8C0AA-DDA3-43AD-81E2-29CBA04E6A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d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71ECB4-CA20-484B-83FF-A859E1F17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7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04130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d-ID"/>
          </a:p>
        </p:txBody>
      </p:sp>
      <p:pic>
        <p:nvPicPr>
          <p:cNvPr id="1028" name="Picture 4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71186" y="1825625"/>
            <a:ext cx="5801627" cy="4351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218B05-395A-4DCE-BC0E-2FF9D17DD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8</a:t>
            </a:fld>
            <a:endParaRPr lang="id-ID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D0974C-BDD4-4D7D-AA77-D86B0CC4B67E}"/>
              </a:ext>
            </a:extLst>
          </p:cNvPr>
          <p:cNvSpPr txBox="1"/>
          <p:nvPr/>
        </p:nvSpPr>
        <p:spPr>
          <a:xfrm>
            <a:off x="3779912" y="4221088"/>
            <a:ext cx="41389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>
                <a:solidFill>
                  <a:srgbClr val="FF0000"/>
                </a:solidFill>
              </a:rPr>
              <a:t>Hariott’s method actually works very well!</a:t>
            </a:r>
          </a:p>
        </p:txBody>
      </p:sp>
    </p:spTree>
    <p:extLst>
      <p:ext uri="{BB962C8B-B14F-4D97-AF65-F5344CB8AC3E}">
        <p14:creationId xmlns:p14="http://schemas.microsoft.com/office/powerpoint/2010/main" val="42633356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15FE3-3A60-4244-B807-9A4E7DE7B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Approximation of </a:t>
            </a:r>
            <a:r>
              <a:rPr lang="id-ID" dirty="0"/>
              <a:t>the </a:t>
            </a:r>
            <a:r>
              <a:rPr lang="en-US" dirty="0"/>
              <a:t>Delayed System by Taylor Series Expansion</a:t>
            </a:r>
            <a:endParaRPr lang="id-ID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DA6629-7431-4249-BA7B-A2959CB568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7728" y="1340768"/>
                <a:ext cx="8229600" cy="4525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id-ID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d-ID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d-ID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id-ID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id-ID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id-ID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d-ID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id-ID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id-ID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acc>
                        <m:accPr>
                          <m:chr m:val="̇"/>
                          <m:ctrlPr>
                            <a:rPr lang="id-ID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d-ID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d>
                        <m:dPr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id-ID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id-ID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id-ID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d-ID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id-ID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acc>
                        <m:accPr>
                          <m:chr m:val="̈"/>
                          <m:ctrlPr>
                            <a:rPr lang="id-ID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d-ID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id-ID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d-ID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id-ID" dirty="0"/>
              </a:p>
              <a:p>
                <a:pPr marL="0" indent="0" algn="ctr">
                  <a:buNone/>
                </a:pPr>
                <a:endParaRPr lang="id-ID" dirty="0"/>
              </a:p>
              <a:p>
                <a:pPr marL="0" indent="0" algn="ctr">
                  <a:buNone/>
                </a:pPr>
                <a:r>
                  <a:rPr lang="id-ID" dirty="0"/>
                  <a:t>Therefore,</a:t>
                </a:r>
              </a:p>
              <a:p>
                <a:pPr marL="0" indent="0" algn="ctr">
                  <a:buNone/>
                </a:pPr>
                <a:endParaRPr lang="id-ID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id-ID" sz="2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</m:acc>
                      <m:d>
                        <m:dPr>
                          <m:ctrlP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id-ID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d-ID" sz="2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r>
                        <a:rPr lang="id-ID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id-ID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acc>
                        <m:accPr>
                          <m:chr m:val="̇"/>
                          <m:ctrlP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</m:acc>
                      <m:r>
                        <a:rPr lang="id-ID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id-ID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id-ID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)+</m:t>
                      </m:r>
                      <m:f>
                        <m:fPr>
                          <m:ctrlP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r>
                        <a:rPr lang="id-ID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id-ID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id-ID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d-ID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id-ID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id-ID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acc>
                        <m:accPr>
                          <m:chr m:val="̇"/>
                          <m:ctrlPr>
                            <a:rPr lang="id-ID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d-ID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d>
                        <m:dPr>
                          <m:ctrlPr>
                            <a:rPr lang="id-ID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d-ID" sz="2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id-ID" sz="26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id-ID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d-ID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d-ID" sz="26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id-ID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d-ID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id-ID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acc>
                        <m:accPr>
                          <m:chr m:val="̈"/>
                          <m:ctrlPr>
                            <a:rPr lang="id-ID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d-ID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id-ID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d-ID" sz="2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id-ID" sz="2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d-ID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  <m:r>
                        <a:rPr lang="id-ID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d-ID" sz="2600" dirty="0"/>
              </a:p>
              <a:p>
                <a:pPr marL="0" indent="0">
                  <a:buNone/>
                </a:pPr>
                <a:endParaRPr lang="id-ID" dirty="0"/>
              </a:p>
              <a:p>
                <a:pPr marL="0" indent="0">
                  <a:buNone/>
                </a:pPr>
                <a:r>
                  <a:rPr lang="id-ID" dirty="0"/>
                  <a:t>Can you implement it in your Simulink (up to the first order approximation only)?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DA6629-7431-4249-BA7B-A2959CB568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7728" y="1340768"/>
                <a:ext cx="8229600" cy="4525963"/>
              </a:xfrm>
              <a:blipFill>
                <a:blip r:embed="rId2"/>
                <a:stretch>
                  <a:fillRect l="-889" r="-1407"/>
                </a:stretch>
              </a:blipFill>
            </p:spPr>
            <p:txBody>
              <a:bodyPr/>
              <a:lstStyle/>
              <a:p>
                <a:r>
                  <a:rPr lang="id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1512F0-2E1D-453D-BD53-8D2C49093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9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2920607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C661A-6FBC-415F-B2C0-586A88839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Further Ideas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A6E48-EAF8-4426-8E45-49F9DC8851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d-ID" dirty="0"/>
              <a:t>What can we do with this vibratory model?</a:t>
            </a:r>
          </a:p>
          <a:p>
            <a:pPr lvl="1"/>
            <a:r>
              <a:rPr lang="id-ID" dirty="0"/>
              <a:t>Think of something, write them down in your report.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4DE9A1-6018-4C79-9960-EADA7A9BF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10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304416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29EB8-038F-4919-BB37-C79345FE9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Activity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F7DC6-0AF9-482B-A29F-924EB573D6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d-ID" dirty="0"/>
              <a:t>Apply a step input to your system, i.e. 50% PWM input</a:t>
            </a:r>
          </a:p>
          <a:p>
            <a:r>
              <a:rPr lang="id-ID" dirty="0"/>
              <a:t>Log both data, input and output. It is also recommended to log the time.</a:t>
            </a:r>
          </a:p>
          <a:p>
            <a:r>
              <a:rPr lang="id-ID" dirty="0"/>
              <a:t>Check the provided m-files: for the Hariott method and for the optimization process.</a:t>
            </a:r>
          </a:p>
          <a:p>
            <a:r>
              <a:rPr lang="id-ID" dirty="0"/>
              <a:t>With the found parameters, simulate the system side-by-side with the actual system. Apply any arbitrary input and observe the output.</a:t>
            </a:r>
          </a:p>
          <a:p>
            <a:pPr marL="0" indent="0">
              <a:buNone/>
            </a:pPr>
            <a:endParaRPr lang="id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BFB332-E616-4110-9E96-7EFA8BD80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11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8281786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17C6C-BD35-468A-AC24-0B51058E4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Activity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E32EC-C589-449C-9C19-0B414CA23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d-ID" dirty="0"/>
              <a:t>Calculate the RMS eror between the simulation and the real system. Provide the plots in your report. Report the parameters of your system too.</a:t>
            </a:r>
          </a:p>
          <a:p>
            <a:r>
              <a:rPr lang="id-ID" dirty="0"/>
              <a:t>A Google sheet will be provided where everyone can report their parameters. We will see how different these parameters are among groups.</a:t>
            </a:r>
          </a:p>
          <a:p>
            <a:endParaRPr lang="id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378FCF-0FB7-44E3-A817-829F2300C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12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8905754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1066</TotalTime>
  <Words>529</Words>
  <Application>Microsoft Office PowerPoint</Application>
  <PresentationFormat>On-screen Show (4:3)</PresentationFormat>
  <Paragraphs>92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Cambria Math</vt:lpstr>
      <vt:lpstr>Office Theme</vt:lpstr>
      <vt:lpstr>Modelling a Thermal Response as 1-DOF Vibratory System</vt:lpstr>
      <vt:lpstr>Intended Learning Outcomes</vt:lpstr>
      <vt:lpstr>1-DOF Vibartory System</vt:lpstr>
      <vt:lpstr>Hariott’s Method for an Overdamped Second Order System</vt:lpstr>
      <vt:lpstr>Parameter Optimization for the Vibratory System</vt:lpstr>
      <vt:lpstr>The Optimized Parameters</vt:lpstr>
      <vt:lpstr>State-Space Form</vt:lpstr>
      <vt:lpstr>PowerPoint Presentation</vt:lpstr>
      <vt:lpstr>Approximation of the Delayed System by Taylor Series Expansion</vt:lpstr>
      <vt:lpstr>Further Ideas</vt:lpstr>
      <vt:lpstr>Activity</vt:lpstr>
      <vt:lpstr>Activity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Modelling a Thermal Response as n n degree-of-freedom vibratory system</dc:title>
  <dc:creator>Lenovo</dc:creator>
  <cp:lastModifiedBy>Lenovo</cp:lastModifiedBy>
  <cp:revision>29</cp:revision>
  <dcterms:created xsi:type="dcterms:W3CDTF">2020-06-16T14:34:17Z</dcterms:created>
  <dcterms:modified xsi:type="dcterms:W3CDTF">2020-06-18T17:10:07Z</dcterms:modified>
</cp:coreProperties>
</file>
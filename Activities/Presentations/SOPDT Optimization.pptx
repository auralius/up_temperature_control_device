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9144000" cy="6858000" type="screen4x3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1386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22287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4441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5482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02626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3610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51001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5437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81081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9454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183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57790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2DC15-F0D8-4AE2-9587-431CFE5FAA74}" type="datetimeFigureOut">
              <a:rPr lang="id-ID" smtClean="0"/>
              <a:t>16/06/2020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49857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d-ID" dirty="0" smtClean="0"/>
              <a:t>Modelling a Thermal Response as</a:t>
            </a:r>
            <a:r>
              <a:rPr lang="en-US" dirty="0" smtClean="0"/>
              <a:t> </a:t>
            </a:r>
            <a:r>
              <a:rPr lang="id-ID" dirty="0"/>
              <a:t>2</a:t>
            </a:r>
            <a:r>
              <a:rPr lang="en-US" dirty="0" smtClean="0"/>
              <a:t> </a:t>
            </a:r>
            <a:r>
              <a:rPr lang="id-ID" dirty="0" smtClean="0"/>
              <a:t>D</a:t>
            </a:r>
            <a:r>
              <a:rPr lang="en-US" dirty="0" err="1" smtClean="0"/>
              <a:t>egree</a:t>
            </a:r>
            <a:r>
              <a:rPr lang="en-US" dirty="0" smtClean="0"/>
              <a:t>-of-</a:t>
            </a:r>
            <a:r>
              <a:rPr lang="id-ID" dirty="0" smtClean="0"/>
              <a:t>F</a:t>
            </a:r>
            <a:r>
              <a:rPr lang="en-US" dirty="0" err="1" smtClean="0"/>
              <a:t>reedom</a:t>
            </a:r>
            <a:r>
              <a:rPr lang="en-US" dirty="0" smtClean="0"/>
              <a:t> </a:t>
            </a:r>
            <a:r>
              <a:rPr lang="id-ID" dirty="0" smtClean="0"/>
              <a:t>V</a:t>
            </a:r>
            <a:r>
              <a:rPr lang="en-US" dirty="0" err="1" smtClean="0"/>
              <a:t>ibratory</a:t>
            </a:r>
            <a:r>
              <a:rPr lang="en-US" dirty="0" smtClean="0"/>
              <a:t> </a:t>
            </a:r>
            <a:r>
              <a:rPr lang="id-ID" dirty="0" smtClean="0"/>
              <a:t>S</a:t>
            </a:r>
            <a:r>
              <a:rPr lang="en-US" dirty="0" err="1" smtClean="0"/>
              <a:t>ystem</a:t>
            </a:r>
            <a:r>
              <a:rPr lang="id-ID" dirty="0" smtClean="0"/>
              <a:t> </a:t>
            </a:r>
            <a:endParaRPr lang="id-ID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22153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𝑀</m:t>
                      </m:r>
                      <m:f>
                        <m:fPr>
                          <m:ctrlPr>
                            <a:rPr lang="id-ID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f>
                        <m:fPr>
                          <m:ctrlPr>
                            <a:rPr lang="id-ID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𝑑𝑇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𝐾𝑇</m:t>
                      </m:r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r>
                        <a:rPr lang="id-ID" b="0" i="1" smtClean="0">
                          <a:latin typeface="Cambria Math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id-ID" b="0" dirty="0" smtClean="0">
                  <a:ea typeface="Cambria Math"/>
                </a:endParaRPr>
              </a:p>
              <a:p>
                <a:pPr marL="0" indent="0">
                  <a:buNone/>
                </a:pPr>
                <a:endParaRPr lang="id-ID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993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d-ID" dirty="0" smtClean="0"/>
                  <a:t>Hariott’s method for inital guess: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𝐿𝑠</m:t>
                              </m:r>
                            </m:sup>
                          </m:sSup>
                          <m:sSub>
                            <m:sSubPr>
                              <m:ctrlPr>
                                <a:rPr lang="id-ID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 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</a:rPr>
                                <m:t>𝑠𝑠</m:t>
                              </m:r>
                            </m:sub>
                          </m:sSub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</m:t>
                          </m:r>
                        </m:den>
                      </m:f>
                    </m:oMath>
                  </m:oMathPara>
                </a14:m>
                <a:endParaRPr lang="id-ID" b="0" dirty="0" smtClean="0"/>
              </a:p>
              <a:p>
                <a:pPr marL="457200" lvl="1" indent="0">
                  <a:buNone/>
                </a:pPr>
                <a:endParaRPr lang="id-ID" b="0" dirty="0" smtClean="0"/>
              </a:p>
              <a:p>
                <a:pPr marL="457200" lvl="1" indent="0">
                  <a:buNone/>
                </a:pPr>
                <a:r>
                  <a:rPr lang="id-ID" dirty="0" smtClean="0"/>
                  <a:t>Hariott’s method estimates: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𝐿</m:t>
                    </m:r>
                    <m:r>
                      <a:rPr lang="id-ID" b="0" i="1" smtClean="0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id-ID" b="0" i="1" smtClean="0">
                        <a:latin typeface="Cambria Math"/>
                        <a:ea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id-ID" dirty="0" smtClean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d-ID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𝐾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𝑠𝑠</m:t>
                        </m:r>
                      </m:sub>
                    </m:sSub>
                  </m:oMath>
                </a14:m>
                <a:endParaRPr lang="id-ID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752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3371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d-ID" dirty="0" smtClean="0"/>
                  <a:t>Convert the Hariott’s model into: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sup>
                          </m:sSup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𝑀</m:t>
                          </m:r>
                          <m:sSup>
                            <m:sSupPr>
                              <m:ctrlPr>
                                <a:rPr lang="id-ID" b="0" i="1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𝐵𝑠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id-ID" b="0" dirty="0" smtClean="0"/>
              </a:p>
              <a:p>
                <a:endParaRPr lang="id-ID" dirty="0" smtClean="0"/>
              </a:p>
              <a:p>
                <a:r>
                  <a:rPr lang="id-ID" dirty="0" smtClean="0"/>
                  <a:t>Use matlab unconstrained optomization function to estimate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𝑀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𝐵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𝐾</m:t>
                    </m:r>
                  </m:oMath>
                </a14:m>
                <a:r>
                  <a:rPr lang="id-ID" dirty="0" smtClean="0"/>
                  <a:t> and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id-ID" dirty="0" smtClean="0"/>
                  <a:t> with the values provided by theHariott’s model as the initial guess.</a:t>
                </a:r>
                <a:endParaRPr lang="id-ID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752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862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id-ID" dirty="0" smtClean="0">
                    <a:latin typeface="Cambria Math"/>
                  </a:rPr>
                  <a:t>The optimized parameters:</a:t>
                </a:r>
              </a:p>
              <a:p>
                <a:pPr marL="0" indent="0">
                  <a:buNone/>
                </a:pPr>
                <a:endParaRPr lang="id-ID" dirty="0" smtClean="0">
                  <a:latin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</a:rPr>
                        <m:t>𝑀</m:t>
                      </m:r>
                      <m:r>
                        <a:rPr lang="id-ID" i="1" smtClean="0">
                          <a:latin typeface="Cambria Math"/>
                        </a:rPr>
                        <m:t>=1622.5</m:t>
                      </m:r>
                    </m:oMath>
                  </m:oMathPara>
                </a14:m>
                <a:endParaRPr lang="id-ID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r>
                        <a:rPr lang="id-ID" b="0" i="1" smtClean="0">
                          <a:latin typeface="Cambria Math"/>
                        </a:rPr>
                        <m:t>=186.8</m:t>
                      </m:r>
                    </m:oMath>
                  </m:oMathPara>
                </a14:m>
                <a:endParaRPr lang="id-ID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𝐾</m:t>
                      </m:r>
                      <m:r>
                        <a:rPr lang="id-ID" b="0" i="1" smtClean="0">
                          <a:latin typeface="Cambria Math"/>
                        </a:rPr>
                        <m:t>=0.9</m:t>
                      </m:r>
                    </m:oMath>
                  </m:oMathPara>
                </a14:m>
                <a:endParaRPr lang="id-ID" b="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id-ID" b="0" i="1" smtClean="0">
                          <a:latin typeface="Cambria Math"/>
                          <a:ea typeface="Cambria Math"/>
                        </a:rPr>
                        <m:t>=10.2</m:t>
                      </m:r>
                    </m:oMath>
                  </m:oMathPara>
                </a14:m>
                <a:endParaRPr lang="id-ID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852" t="-1752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692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1028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773" y="1600200"/>
            <a:ext cx="6034454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63335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174</Words>
  <Application>Microsoft Office PowerPoint</Application>
  <PresentationFormat>On-screen Show (4:3)</PresentationFormat>
  <Paragraphs>16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Modelling a Thermal Response as 2 Degree-of-Freedom Vibratory System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Modelling a Thermal Response as n n degree-of-freedom vibratory system</dc:title>
  <dc:creator>Lenovo</dc:creator>
  <cp:lastModifiedBy>Lenovo</cp:lastModifiedBy>
  <cp:revision>4</cp:revision>
  <dcterms:created xsi:type="dcterms:W3CDTF">2020-06-16T14:34:17Z</dcterms:created>
  <dcterms:modified xsi:type="dcterms:W3CDTF">2020-06-16T15:03:06Z</dcterms:modified>
</cp:coreProperties>
</file>